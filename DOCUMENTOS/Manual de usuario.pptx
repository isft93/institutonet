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utaro mansilla" initials="lm" lastIdx="1" clrIdx="0">
    <p:extLst>
      <p:ext uri="{19B8F6BF-5375-455C-9EA6-DF929625EA0E}">
        <p15:presenceInfo xmlns:p15="http://schemas.microsoft.com/office/powerpoint/2012/main" userId="78b2a0b96f9b21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7457B"/>
    <a:srgbClr val="7AC8DD"/>
    <a:srgbClr val="C00000"/>
    <a:srgbClr val="666666"/>
    <a:srgbClr val="00B0F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30D242-A23F-46BE-AEFD-392EA7CF2C9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B497A95F-9A7D-495F-BC66-023CA6F837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558274C0-A0E4-4AC1-95E8-51C7F979C0E8}"/>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5" name="Marcador de pie de página 4">
            <a:extLst>
              <a:ext uri="{FF2B5EF4-FFF2-40B4-BE49-F238E27FC236}">
                <a16:creationId xmlns:a16="http://schemas.microsoft.com/office/drawing/2014/main" id="{AFA4257F-D8F8-493C-9140-2E435A24956E}"/>
              </a:ext>
            </a:extLst>
          </p:cNvPr>
          <p:cNvSpPr>
            <a:spLocks noGrp="1"/>
          </p:cNvSpPr>
          <p:nvPr>
            <p:ph type="ftr" sz="quarter" idx="11"/>
          </p:nvPr>
        </p:nvSpPr>
        <p:spPr/>
        <p:txBody>
          <a:bodyPr/>
          <a:lstStyle/>
          <a:p>
            <a:endParaRPr lang="es-AR" dirty="0"/>
          </a:p>
        </p:txBody>
      </p:sp>
      <p:sp>
        <p:nvSpPr>
          <p:cNvPr id="6" name="Marcador de número de diapositiva 5">
            <a:extLst>
              <a:ext uri="{FF2B5EF4-FFF2-40B4-BE49-F238E27FC236}">
                <a16:creationId xmlns:a16="http://schemas.microsoft.com/office/drawing/2014/main" id="{2DDF78E9-0807-4D18-8037-179671611E26}"/>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1284379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7C534D-AB0F-436F-8FD5-C2AF0347C772}"/>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B436FDA0-F667-4368-80B6-9154AE1AD28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1877606-7CCC-4F8A-8454-BDCB4D823E8B}"/>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5" name="Marcador de pie de página 4">
            <a:extLst>
              <a:ext uri="{FF2B5EF4-FFF2-40B4-BE49-F238E27FC236}">
                <a16:creationId xmlns:a16="http://schemas.microsoft.com/office/drawing/2014/main" id="{5D6BE628-A901-49FD-8A56-5DF99C75F9B7}"/>
              </a:ext>
            </a:extLst>
          </p:cNvPr>
          <p:cNvSpPr>
            <a:spLocks noGrp="1"/>
          </p:cNvSpPr>
          <p:nvPr>
            <p:ph type="ftr" sz="quarter" idx="11"/>
          </p:nvPr>
        </p:nvSpPr>
        <p:spPr/>
        <p:txBody>
          <a:bodyPr/>
          <a:lstStyle/>
          <a:p>
            <a:endParaRPr lang="es-AR" dirty="0"/>
          </a:p>
        </p:txBody>
      </p:sp>
      <p:sp>
        <p:nvSpPr>
          <p:cNvPr id="6" name="Marcador de número de diapositiva 5">
            <a:extLst>
              <a:ext uri="{FF2B5EF4-FFF2-40B4-BE49-F238E27FC236}">
                <a16:creationId xmlns:a16="http://schemas.microsoft.com/office/drawing/2014/main" id="{EEDD6D1F-23CD-43C8-9F09-5C093E3BA3E9}"/>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860776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24FB43-C21F-4D67-A8BD-B76E6BFDD70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A76420F0-616A-47F2-B139-7FC16ADA21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14FE64F-D65A-4AC7-9BBE-AAD216C1B410}"/>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5" name="Marcador de pie de página 4">
            <a:extLst>
              <a:ext uri="{FF2B5EF4-FFF2-40B4-BE49-F238E27FC236}">
                <a16:creationId xmlns:a16="http://schemas.microsoft.com/office/drawing/2014/main" id="{89E9069B-5E39-46BA-9507-7888EDC2A0B7}"/>
              </a:ext>
            </a:extLst>
          </p:cNvPr>
          <p:cNvSpPr>
            <a:spLocks noGrp="1"/>
          </p:cNvSpPr>
          <p:nvPr>
            <p:ph type="ftr" sz="quarter" idx="11"/>
          </p:nvPr>
        </p:nvSpPr>
        <p:spPr/>
        <p:txBody>
          <a:bodyPr/>
          <a:lstStyle/>
          <a:p>
            <a:endParaRPr lang="es-AR" dirty="0"/>
          </a:p>
        </p:txBody>
      </p:sp>
      <p:sp>
        <p:nvSpPr>
          <p:cNvPr id="6" name="Marcador de número de diapositiva 5">
            <a:extLst>
              <a:ext uri="{FF2B5EF4-FFF2-40B4-BE49-F238E27FC236}">
                <a16:creationId xmlns:a16="http://schemas.microsoft.com/office/drawing/2014/main" id="{CE08837E-E698-4E44-9350-95CDCE0CE19E}"/>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2666200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40BA92-F9EF-4A15-B54F-9D845367BBA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7674618E-4250-4015-9F79-2EE136ECEAF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AF4BF121-2DDB-43E2-9981-2D55DC301BE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72321B21-1DC4-4404-B6AC-8FC2C2C092B5}"/>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6" name="Marcador de pie de página 5">
            <a:extLst>
              <a:ext uri="{FF2B5EF4-FFF2-40B4-BE49-F238E27FC236}">
                <a16:creationId xmlns:a16="http://schemas.microsoft.com/office/drawing/2014/main" id="{7B9D6ECD-E12C-4658-9175-E0EDFE0C1974}"/>
              </a:ext>
            </a:extLst>
          </p:cNvPr>
          <p:cNvSpPr>
            <a:spLocks noGrp="1"/>
          </p:cNvSpPr>
          <p:nvPr>
            <p:ph type="ftr" sz="quarter" idx="11"/>
          </p:nvPr>
        </p:nvSpPr>
        <p:spPr/>
        <p:txBody>
          <a:bodyPr/>
          <a:lstStyle/>
          <a:p>
            <a:endParaRPr lang="es-AR" dirty="0"/>
          </a:p>
        </p:txBody>
      </p:sp>
      <p:sp>
        <p:nvSpPr>
          <p:cNvPr id="7" name="Marcador de número de diapositiva 6">
            <a:extLst>
              <a:ext uri="{FF2B5EF4-FFF2-40B4-BE49-F238E27FC236}">
                <a16:creationId xmlns:a16="http://schemas.microsoft.com/office/drawing/2014/main" id="{331E4445-CD98-4A9D-9EB6-C2D064340793}"/>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1659970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303493-BCE0-49A8-BC51-D0D98BA3CAE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6EAE0BE7-40C3-485C-8020-E99281E398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D907C17-917D-43D2-B1F3-DFC4891859A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107695BE-905B-425F-B1B1-82D62CF5CC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B76BFEE-EF5C-4FAD-A98E-5C93667A84E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A9D57DC4-744B-459C-BC82-19037028971B}"/>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8" name="Marcador de pie de página 7">
            <a:extLst>
              <a:ext uri="{FF2B5EF4-FFF2-40B4-BE49-F238E27FC236}">
                <a16:creationId xmlns:a16="http://schemas.microsoft.com/office/drawing/2014/main" id="{7BF434B6-399E-49C4-B6B1-41836093CAB9}"/>
              </a:ext>
            </a:extLst>
          </p:cNvPr>
          <p:cNvSpPr>
            <a:spLocks noGrp="1"/>
          </p:cNvSpPr>
          <p:nvPr>
            <p:ph type="ftr" sz="quarter" idx="11"/>
          </p:nvPr>
        </p:nvSpPr>
        <p:spPr/>
        <p:txBody>
          <a:bodyPr/>
          <a:lstStyle/>
          <a:p>
            <a:endParaRPr lang="es-AR" dirty="0"/>
          </a:p>
        </p:txBody>
      </p:sp>
      <p:sp>
        <p:nvSpPr>
          <p:cNvPr id="9" name="Marcador de número de diapositiva 8">
            <a:extLst>
              <a:ext uri="{FF2B5EF4-FFF2-40B4-BE49-F238E27FC236}">
                <a16:creationId xmlns:a16="http://schemas.microsoft.com/office/drawing/2014/main" id="{91AB7AB6-E206-4335-8E84-6A90853C96C4}"/>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3123874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5D5DA2-FA6D-49DF-8D2E-ED0F22B8F4AD}"/>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8CA10CC2-4AF0-4D6F-B98E-73B52401ADC5}"/>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4" name="Marcador de pie de página 3">
            <a:extLst>
              <a:ext uri="{FF2B5EF4-FFF2-40B4-BE49-F238E27FC236}">
                <a16:creationId xmlns:a16="http://schemas.microsoft.com/office/drawing/2014/main" id="{C48158B4-7128-4452-8430-C1DD8047E454}"/>
              </a:ext>
            </a:extLst>
          </p:cNvPr>
          <p:cNvSpPr>
            <a:spLocks noGrp="1"/>
          </p:cNvSpPr>
          <p:nvPr>
            <p:ph type="ftr" sz="quarter" idx="11"/>
          </p:nvPr>
        </p:nvSpPr>
        <p:spPr/>
        <p:txBody>
          <a:bodyPr/>
          <a:lstStyle/>
          <a:p>
            <a:endParaRPr lang="es-AR" dirty="0"/>
          </a:p>
        </p:txBody>
      </p:sp>
      <p:sp>
        <p:nvSpPr>
          <p:cNvPr id="5" name="Marcador de número de diapositiva 4">
            <a:extLst>
              <a:ext uri="{FF2B5EF4-FFF2-40B4-BE49-F238E27FC236}">
                <a16:creationId xmlns:a16="http://schemas.microsoft.com/office/drawing/2014/main" id="{C0D41DF0-FAFA-4F78-94B4-A7DAAD31FC9C}"/>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1451996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701CC58-CAD3-4DD4-BF13-4FA07877F273}"/>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3" name="Marcador de pie de página 2">
            <a:extLst>
              <a:ext uri="{FF2B5EF4-FFF2-40B4-BE49-F238E27FC236}">
                <a16:creationId xmlns:a16="http://schemas.microsoft.com/office/drawing/2014/main" id="{96FB1BBD-45F1-492E-9FB3-AD69E8829CD6}"/>
              </a:ext>
            </a:extLst>
          </p:cNvPr>
          <p:cNvSpPr>
            <a:spLocks noGrp="1"/>
          </p:cNvSpPr>
          <p:nvPr>
            <p:ph type="ftr" sz="quarter" idx="11"/>
          </p:nvPr>
        </p:nvSpPr>
        <p:spPr/>
        <p:txBody>
          <a:bodyPr/>
          <a:lstStyle/>
          <a:p>
            <a:endParaRPr lang="es-AR" dirty="0"/>
          </a:p>
        </p:txBody>
      </p:sp>
      <p:sp>
        <p:nvSpPr>
          <p:cNvPr id="4" name="Marcador de número de diapositiva 3">
            <a:extLst>
              <a:ext uri="{FF2B5EF4-FFF2-40B4-BE49-F238E27FC236}">
                <a16:creationId xmlns:a16="http://schemas.microsoft.com/office/drawing/2014/main" id="{1A140994-206B-48AE-9325-9526652015F8}"/>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1579712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FCE74F-29C2-4203-8ABA-F7892A8E9AA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828416A4-524B-413B-85A4-F28CDDE235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75C84880-E304-4425-BD86-90E42EC1A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34B39F1-0CFC-4511-9DDD-F55B47AE17CC}"/>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6" name="Marcador de pie de página 5">
            <a:extLst>
              <a:ext uri="{FF2B5EF4-FFF2-40B4-BE49-F238E27FC236}">
                <a16:creationId xmlns:a16="http://schemas.microsoft.com/office/drawing/2014/main" id="{E943C034-02E9-4879-8551-AD239751C325}"/>
              </a:ext>
            </a:extLst>
          </p:cNvPr>
          <p:cNvSpPr>
            <a:spLocks noGrp="1"/>
          </p:cNvSpPr>
          <p:nvPr>
            <p:ph type="ftr" sz="quarter" idx="11"/>
          </p:nvPr>
        </p:nvSpPr>
        <p:spPr/>
        <p:txBody>
          <a:bodyPr/>
          <a:lstStyle/>
          <a:p>
            <a:endParaRPr lang="es-AR" dirty="0"/>
          </a:p>
        </p:txBody>
      </p:sp>
      <p:sp>
        <p:nvSpPr>
          <p:cNvPr id="7" name="Marcador de número de diapositiva 6">
            <a:extLst>
              <a:ext uri="{FF2B5EF4-FFF2-40B4-BE49-F238E27FC236}">
                <a16:creationId xmlns:a16="http://schemas.microsoft.com/office/drawing/2014/main" id="{A5091007-48FC-4934-B4E4-483D9AE47C61}"/>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2896412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254E1A-80EE-4825-9736-40F9F600B4E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ED06B836-D141-46D2-8787-9E7D9613F8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dirty="0"/>
          </a:p>
        </p:txBody>
      </p:sp>
      <p:sp>
        <p:nvSpPr>
          <p:cNvPr id="4" name="Marcador de texto 3">
            <a:extLst>
              <a:ext uri="{FF2B5EF4-FFF2-40B4-BE49-F238E27FC236}">
                <a16:creationId xmlns:a16="http://schemas.microsoft.com/office/drawing/2014/main" id="{A9016FAF-A167-434C-A82D-8EE3D4FBD6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1574580-02E0-4FF7-A14B-9F2072141B22}"/>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6" name="Marcador de pie de página 5">
            <a:extLst>
              <a:ext uri="{FF2B5EF4-FFF2-40B4-BE49-F238E27FC236}">
                <a16:creationId xmlns:a16="http://schemas.microsoft.com/office/drawing/2014/main" id="{CA50FD71-0695-4921-A2D1-950394FD6EC2}"/>
              </a:ext>
            </a:extLst>
          </p:cNvPr>
          <p:cNvSpPr>
            <a:spLocks noGrp="1"/>
          </p:cNvSpPr>
          <p:nvPr>
            <p:ph type="ftr" sz="quarter" idx="11"/>
          </p:nvPr>
        </p:nvSpPr>
        <p:spPr/>
        <p:txBody>
          <a:bodyPr/>
          <a:lstStyle/>
          <a:p>
            <a:endParaRPr lang="es-AR" dirty="0"/>
          </a:p>
        </p:txBody>
      </p:sp>
      <p:sp>
        <p:nvSpPr>
          <p:cNvPr id="7" name="Marcador de número de diapositiva 6">
            <a:extLst>
              <a:ext uri="{FF2B5EF4-FFF2-40B4-BE49-F238E27FC236}">
                <a16:creationId xmlns:a16="http://schemas.microsoft.com/office/drawing/2014/main" id="{92F0B0D8-7C2F-42C4-8B06-90F07128AB46}"/>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2017582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BA1FB6-5BA9-4435-922B-F21CF4C24091}"/>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9C928EE1-CAF1-4170-BC07-BEACACF19CB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F7DF3946-25AB-4910-8304-28069E446F34}"/>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5" name="Marcador de pie de página 4">
            <a:extLst>
              <a:ext uri="{FF2B5EF4-FFF2-40B4-BE49-F238E27FC236}">
                <a16:creationId xmlns:a16="http://schemas.microsoft.com/office/drawing/2014/main" id="{95540F36-E86C-4531-85AC-3C3710F2C351}"/>
              </a:ext>
            </a:extLst>
          </p:cNvPr>
          <p:cNvSpPr>
            <a:spLocks noGrp="1"/>
          </p:cNvSpPr>
          <p:nvPr>
            <p:ph type="ftr" sz="quarter" idx="11"/>
          </p:nvPr>
        </p:nvSpPr>
        <p:spPr/>
        <p:txBody>
          <a:bodyPr/>
          <a:lstStyle/>
          <a:p>
            <a:endParaRPr lang="es-AR" dirty="0"/>
          </a:p>
        </p:txBody>
      </p:sp>
      <p:sp>
        <p:nvSpPr>
          <p:cNvPr id="6" name="Marcador de número de diapositiva 5">
            <a:extLst>
              <a:ext uri="{FF2B5EF4-FFF2-40B4-BE49-F238E27FC236}">
                <a16:creationId xmlns:a16="http://schemas.microsoft.com/office/drawing/2014/main" id="{B1AEA2D9-CC40-43E5-A6F3-B4A92A8B4A50}"/>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2479202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6A8E3EB-B97C-453A-91FF-4EEF03D1F6E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7C76E665-17B9-482B-B7B0-B5623C4DA17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BC306220-7D4C-4549-BB1C-CD834AECAF15}"/>
              </a:ext>
            </a:extLst>
          </p:cNvPr>
          <p:cNvSpPr>
            <a:spLocks noGrp="1"/>
          </p:cNvSpPr>
          <p:nvPr>
            <p:ph type="dt" sz="half" idx="10"/>
          </p:nvPr>
        </p:nvSpPr>
        <p:spPr/>
        <p:txBody>
          <a:bodyPr/>
          <a:lstStyle/>
          <a:p>
            <a:fld id="{D0FF8155-7A1E-498C-9247-258745CE4511}" type="datetimeFigureOut">
              <a:rPr lang="es-AR" smtClean="0"/>
              <a:t>17/4/2026</a:t>
            </a:fld>
            <a:endParaRPr lang="es-AR" dirty="0"/>
          </a:p>
        </p:txBody>
      </p:sp>
      <p:sp>
        <p:nvSpPr>
          <p:cNvPr id="5" name="Marcador de pie de página 4">
            <a:extLst>
              <a:ext uri="{FF2B5EF4-FFF2-40B4-BE49-F238E27FC236}">
                <a16:creationId xmlns:a16="http://schemas.microsoft.com/office/drawing/2014/main" id="{0A204489-D21F-4B7B-9444-D54199CDE156}"/>
              </a:ext>
            </a:extLst>
          </p:cNvPr>
          <p:cNvSpPr>
            <a:spLocks noGrp="1"/>
          </p:cNvSpPr>
          <p:nvPr>
            <p:ph type="ftr" sz="quarter" idx="11"/>
          </p:nvPr>
        </p:nvSpPr>
        <p:spPr/>
        <p:txBody>
          <a:bodyPr/>
          <a:lstStyle/>
          <a:p>
            <a:endParaRPr lang="es-AR" dirty="0"/>
          </a:p>
        </p:txBody>
      </p:sp>
      <p:sp>
        <p:nvSpPr>
          <p:cNvPr id="6" name="Marcador de número de diapositiva 5">
            <a:extLst>
              <a:ext uri="{FF2B5EF4-FFF2-40B4-BE49-F238E27FC236}">
                <a16:creationId xmlns:a16="http://schemas.microsoft.com/office/drawing/2014/main" id="{A68D8214-0AD6-4006-8F97-5940EBBB47AC}"/>
              </a:ext>
            </a:extLst>
          </p:cNvPr>
          <p:cNvSpPr>
            <a:spLocks noGrp="1"/>
          </p:cNvSpPr>
          <p:nvPr>
            <p:ph type="sldNum" sz="quarter" idx="12"/>
          </p:nvPr>
        </p:nvSpPr>
        <p:spPr/>
        <p:txBody>
          <a:bodyPr/>
          <a:lstStyle/>
          <a:p>
            <a:fld id="{ED9AA425-07A8-46D3-92C5-22E7047B6D0F}" type="slidenum">
              <a:rPr lang="es-AR" smtClean="0"/>
              <a:t>‹Nº›</a:t>
            </a:fld>
            <a:endParaRPr lang="es-AR" dirty="0"/>
          </a:p>
        </p:txBody>
      </p:sp>
    </p:spTree>
    <p:extLst>
      <p:ext uri="{BB962C8B-B14F-4D97-AF65-F5344CB8AC3E}">
        <p14:creationId xmlns:p14="http://schemas.microsoft.com/office/powerpoint/2010/main" val="2144926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670D987-EC14-4426-9641-C5DCC645E9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5ACAD608-9651-4CF0-8084-751B227B62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F2482D1E-868D-4068-A824-AEECC93557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FF8155-7A1E-498C-9247-258745CE4511}" type="datetimeFigureOut">
              <a:rPr lang="es-AR" smtClean="0"/>
              <a:t>17/4/2026</a:t>
            </a:fld>
            <a:endParaRPr lang="es-AR" dirty="0"/>
          </a:p>
        </p:txBody>
      </p:sp>
      <p:sp>
        <p:nvSpPr>
          <p:cNvPr id="5" name="Marcador de pie de página 4">
            <a:extLst>
              <a:ext uri="{FF2B5EF4-FFF2-40B4-BE49-F238E27FC236}">
                <a16:creationId xmlns:a16="http://schemas.microsoft.com/office/drawing/2014/main" id="{48187AD1-7169-4322-A43A-7439733DB9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dirty="0"/>
          </a:p>
        </p:txBody>
      </p:sp>
      <p:sp>
        <p:nvSpPr>
          <p:cNvPr id="6" name="Marcador de número de diapositiva 5">
            <a:extLst>
              <a:ext uri="{FF2B5EF4-FFF2-40B4-BE49-F238E27FC236}">
                <a16:creationId xmlns:a16="http://schemas.microsoft.com/office/drawing/2014/main" id="{106E5B0D-9FC2-4BAD-B7E7-4FA10D16C0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9AA425-07A8-46D3-92C5-22E7047B6D0F}" type="slidenum">
              <a:rPr lang="es-AR" smtClean="0"/>
              <a:t>‹Nº›</a:t>
            </a:fld>
            <a:endParaRPr lang="es-AR" dirty="0"/>
          </a:p>
        </p:txBody>
      </p:sp>
    </p:spTree>
    <p:extLst>
      <p:ext uri="{BB962C8B-B14F-4D97-AF65-F5344CB8AC3E}">
        <p14:creationId xmlns:p14="http://schemas.microsoft.com/office/powerpoint/2010/main" val="105479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4.xml"/><Relationship Id="rId7"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1.xml"/><Relationship Id="rId6" Type="http://schemas.openxmlformats.org/officeDocument/2006/relationships/slide" Target="slide8.xml"/><Relationship Id="rId11" Type="http://schemas.openxmlformats.org/officeDocument/2006/relationships/slide" Target="slide18.xml"/><Relationship Id="rId5" Type="http://schemas.openxmlformats.org/officeDocument/2006/relationships/slide" Target="slide5.xml"/><Relationship Id="rId10" Type="http://schemas.openxmlformats.org/officeDocument/2006/relationships/slide" Target="slide16.xml"/><Relationship Id="rId4" Type="http://schemas.openxmlformats.org/officeDocument/2006/relationships/slide" Target="slide6.xml"/><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slide" Target="slide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7457B"/>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F449E9EA-B177-4FB0-BE6F-61D0A5204F16}"/>
              </a:ext>
            </a:extLst>
          </p:cNvPr>
          <p:cNvSpPr/>
          <p:nvPr/>
        </p:nvSpPr>
        <p:spPr>
          <a:xfrm>
            <a:off x="0" y="701322"/>
            <a:ext cx="12192000" cy="5592932"/>
          </a:xfrm>
          <a:prstGeom prst="rect">
            <a:avLst/>
          </a:prstGeom>
          <a:solidFill>
            <a:srgbClr val="7AC8D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6" name="Rectángulo 5">
            <a:extLst>
              <a:ext uri="{FF2B5EF4-FFF2-40B4-BE49-F238E27FC236}">
                <a16:creationId xmlns:a16="http://schemas.microsoft.com/office/drawing/2014/main" id="{1E15F5CF-02B3-45B0-BC12-7CD5ADBEE101}"/>
              </a:ext>
            </a:extLst>
          </p:cNvPr>
          <p:cNvSpPr/>
          <p:nvPr/>
        </p:nvSpPr>
        <p:spPr>
          <a:xfrm>
            <a:off x="3610383" y="699103"/>
            <a:ext cx="4971233" cy="769441"/>
          </a:xfrm>
          <a:prstGeom prst="rect">
            <a:avLst/>
          </a:prstGeom>
          <a:noFill/>
        </p:spPr>
        <p:txBody>
          <a:bodyPr wrap="none" lIns="91440" tIns="45720" rIns="91440" bIns="45720">
            <a:spAutoFit/>
          </a:bodyPr>
          <a:lstStyle/>
          <a:p>
            <a:pPr algn="ctr"/>
            <a:r>
              <a:rPr lang="es-ES" sz="44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cs typeface="Calibri" panose="020F0502020204030204" pitchFamily="34" charset="0"/>
              </a:rPr>
              <a:t>Manual de usuario</a:t>
            </a:r>
          </a:p>
        </p:txBody>
      </p:sp>
      <p:sp>
        <p:nvSpPr>
          <p:cNvPr id="9" name="Rectángulo 8">
            <a:extLst>
              <a:ext uri="{FF2B5EF4-FFF2-40B4-BE49-F238E27FC236}">
                <a16:creationId xmlns:a16="http://schemas.microsoft.com/office/drawing/2014/main" id="{533BCBA6-3A7D-4B4C-862B-1053CF8DADA3}"/>
              </a:ext>
            </a:extLst>
          </p:cNvPr>
          <p:cNvSpPr/>
          <p:nvPr/>
        </p:nvSpPr>
        <p:spPr>
          <a:xfrm>
            <a:off x="4483666" y="1460768"/>
            <a:ext cx="3224665" cy="369332"/>
          </a:xfrm>
          <a:prstGeom prst="rect">
            <a:avLst/>
          </a:prstGeom>
          <a:noFill/>
        </p:spPr>
        <p:txBody>
          <a:bodyPr wrap="none" lIns="91440" tIns="45720" rIns="91440" bIns="45720">
            <a:spAutoFit/>
          </a:bodyPr>
          <a:lstStyle/>
          <a:p>
            <a:pPr algn="ctr"/>
            <a:r>
              <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Para el sistema de isdfyt n°93</a:t>
            </a:r>
          </a:p>
        </p:txBody>
      </p:sp>
      <p:pic>
        <p:nvPicPr>
          <p:cNvPr id="1026" name="Picture 2" descr="I.S.F.T. N° 93 - &quot;Presidente Arturo Umberto Illia&quot;">
            <a:extLst>
              <a:ext uri="{FF2B5EF4-FFF2-40B4-BE49-F238E27FC236}">
                <a16:creationId xmlns:a16="http://schemas.microsoft.com/office/drawing/2014/main" id="{BAC4988B-661C-4806-A14D-D31FC883A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9137" y="2147407"/>
            <a:ext cx="3018409" cy="2812008"/>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0EA6BF98-E8C0-494A-AD12-EC8E70477CA7}"/>
              </a:ext>
            </a:extLst>
          </p:cNvPr>
          <p:cNvSpPr/>
          <p:nvPr/>
        </p:nvSpPr>
        <p:spPr>
          <a:xfrm>
            <a:off x="4725366" y="5503912"/>
            <a:ext cx="2741263" cy="553998"/>
          </a:xfrm>
          <a:prstGeom prst="rect">
            <a:avLst/>
          </a:prstGeom>
          <a:noFill/>
        </p:spPr>
        <p:txBody>
          <a:bodyPr wrap="none" lIns="91440" tIns="45720" rIns="91440" bIns="45720">
            <a:spAutoFit/>
          </a:bodyPr>
          <a:lstStyle/>
          <a:p>
            <a:pPr algn="ctr"/>
            <a:r>
              <a:rPr lang="es-ES" sz="1200"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Hecho por los alumnos de</a:t>
            </a: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a:p>
            <a:pPr algn="ctr"/>
            <a:r>
              <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Práctica Profesional 2026</a:t>
            </a:r>
          </a:p>
        </p:txBody>
      </p:sp>
      <p:pic>
        <p:nvPicPr>
          <p:cNvPr id="3" name="Imagen 2">
            <a:extLst>
              <a:ext uri="{FF2B5EF4-FFF2-40B4-BE49-F238E27FC236}">
                <a16:creationId xmlns:a16="http://schemas.microsoft.com/office/drawing/2014/main" id="{E7B78696-FAC5-4257-B058-6A242ED4E4C8}"/>
              </a:ext>
            </a:extLst>
          </p:cNvPr>
          <p:cNvPicPr>
            <a:picLocks noChangeAspect="1"/>
          </p:cNvPicPr>
          <p:nvPr/>
        </p:nvPicPr>
        <p:blipFill rotWithShape="1">
          <a:blip r:embed="rId3">
            <a:extLst>
              <a:ext uri="{28A0092B-C50C-407E-A947-70E740481C1C}">
                <a14:useLocalDpi xmlns:a14="http://schemas.microsoft.com/office/drawing/2010/main" val="0"/>
              </a:ext>
            </a:extLst>
          </a:blip>
          <a:srcRect l="49722"/>
          <a:stretch/>
        </p:blipFill>
        <p:spPr>
          <a:xfrm>
            <a:off x="6781570" y="922523"/>
            <a:ext cx="2812009" cy="5592932"/>
          </a:xfrm>
          <a:prstGeom prst="rect">
            <a:avLst/>
          </a:prstGeom>
        </p:spPr>
      </p:pic>
      <p:pic>
        <p:nvPicPr>
          <p:cNvPr id="7" name="Imagen 6">
            <a:extLst>
              <a:ext uri="{FF2B5EF4-FFF2-40B4-BE49-F238E27FC236}">
                <a16:creationId xmlns:a16="http://schemas.microsoft.com/office/drawing/2014/main" id="{6ADFBA32-07BE-40BE-B193-A0CE9693F367}"/>
              </a:ext>
            </a:extLst>
          </p:cNvPr>
          <p:cNvPicPr>
            <a:picLocks noChangeAspect="1"/>
          </p:cNvPicPr>
          <p:nvPr/>
        </p:nvPicPr>
        <p:blipFill rotWithShape="1">
          <a:blip r:embed="rId3">
            <a:extLst>
              <a:ext uri="{28A0092B-C50C-407E-A947-70E740481C1C}">
                <a14:useLocalDpi xmlns:a14="http://schemas.microsoft.com/office/drawing/2010/main" val="0"/>
              </a:ext>
            </a:extLst>
          </a:blip>
          <a:srcRect r="50317"/>
          <a:stretch/>
        </p:blipFill>
        <p:spPr>
          <a:xfrm>
            <a:off x="2550337" y="871615"/>
            <a:ext cx="2812008" cy="5659946"/>
          </a:xfrm>
          <a:prstGeom prst="rect">
            <a:avLst/>
          </a:prstGeom>
        </p:spPr>
      </p:pic>
      <p:pic>
        <p:nvPicPr>
          <p:cNvPr id="11" name="Imagen 10">
            <a:extLst>
              <a:ext uri="{FF2B5EF4-FFF2-40B4-BE49-F238E27FC236}">
                <a16:creationId xmlns:a16="http://schemas.microsoft.com/office/drawing/2014/main" id="{084A2AEA-67B5-4029-83E6-A3229740B63B}"/>
              </a:ext>
            </a:extLst>
          </p:cNvPr>
          <p:cNvPicPr>
            <a:picLocks noChangeAspect="1"/>
          </p:cNvPicPr>
          <p:nvPr/>
        </p:nvPicPr>
        <p:blipFill rotWithShape="1">
          <a:blip r:embed="rId3">
            <a:alphaModFix amt="35000"/>
            <a:extLst>
              <a:ext uri="{28A0092B-C50C-407E-A947-70E740481C1C}">
                <a14:useLocalDpi xmlns:a14="http://schemas.microsoft.com/office/drawing/2010/main" val="0"/>
              </a:ext>
            </a:extLst>
          </a:blip>
          <a:srcRect r="50317"/>
          <a:stretch/>
        </p:blipFill>
        <p:spPr>
          <a:xfrm>
            <a:off x="-1584669" y="-3480985"/>
            <a:ext cx="6267574" cy="13903413"/>
          </a:xfrm>
          <a:prstGeom prst="rect">
            <a:avLst/>
          </a:prstGeom>
          <a:noFill/>
          <a:ln>
            <a:noFill/>
          </a:ln>
          <a:effectLst>
            <a:outerShdw blurRad="50800" dist="50800" dir="5400000" algn="ctr" rotWithShape="0">
              <a:srgbClr val="000000">
                <a:alpha val="0"/>
              </a:srgbClr>
            </a:outerShdw>
            <a:reflection stA="0" endPos="65000" dist="50800" dir="5400000" sy="-100000" algn="bl" rotWithShape="0"/>
            <a:softEdge rad="63500"/>
          </a:effectLst>
          <a:scene3d>
            <a:camera prst="orthographicFront">
              <a:rot lat="300000" lon="21599989" rev="0"/>
            </a:camera>
            <a:lightRig rig="threePt" dir="t"/>
          </a:scene3d>
        </p:spPr>
      </p:pic>
      <p:pic>
        <p:nvPicPr>
          <p:cNvPr id="12" name="Imagen 11">
            <a:extLst>
              <a:ext uri="{FF2B5EF4-FFF2-40B4-BE49-F238E27FC236}">
                <a16:creationId xmlns:a16="http://schemas.microsoft.com/office/drawing/2014/main" id="{74BF41F7-9A95-4BE4-93B1-D14A8ABE72CB}"/>
              </a:ext>
            </a:extLst>
          </p:cNvPr>
          <p:cNvPicPr>
            <a:picLocks noChangeAspect="1"/>
          </p:cNvPicPr>
          <p:nvPr/>
        </p:nvPicPr>
        <p:blipFill rotWithShape="1">
          <a:blip r:embed="rId3">
            <a:alphaModFix amt="35000"/>
            <a:extLst>
              <a:ext uri="{28A0092B-C50C-407E-A947-70E740481C1C}">
                <a14:useLocalDpi xmlns:a14="http://schemas.microsoft.com/office/drawing/2010/main" val="0"/>
              </a:ext>
            </a:extLst>
          </a:blip>
          <a:srcRect r="50317"/>
          <a:stretch/>
        </p:blipFill>
        <p:spPr>
          <a:xfrm>
            <a:off x="7472752" y="-3480985"/>
            <a:ext cx="6322534" cy="14025333"/>
          </a:xfrm>
          <a:prstGeom prst="rect">
            <a:avLst/>
          </a:prstGeom>
          <a:noFill/>
          <a:ln>
            <a:noFill/>
          </a:ln>
          <a:effectLst>
            <a:outerShdw blurRad="50800" dist="50800" dir="5400000" algn="ctr" rotWithShape="0">
              <a:srgbClr val="000000">
                <a:alpha val="0"/>
              </a:srgbClr>
            </a:outerShdw>
            <a:reflection stA="0" endPos="65000" dist="50800" dir="5400000" sy="-100000" algn="bl" rotWithShape="0"/>
            <a:softEdge rad="63500"/>
          </a:effectLst>
          <a:scene3d>
            <a:camera prst="orthographicFront">
              <a:rot lat="21301128" lon="11101142" rev="21573763"/>
            </a:camera>
            <a:lightRig rig="threePt" dir="t"/>
          </a:scene3d>
        </p:spPr>
      </p:pic>
    </p:spTree>
    <p:extLst>
      <p:ext uri="{BB962C8B-B14F-4D97-AF65-F5344CB8AC3E}">
        <p14:creationId xmlns:p14="http://schemas.microsoft.com/office/powerpoint/2010/main" val="4090517089"/>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D8288E17-2892-42C2-BFE5-C6303C4C6F3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2" name="Rectángulo 11">
            <a:extLst>
              <a:ext uri="{FF2B5EF4-FFF2-40B4-BE49-F238E27FC236}">
                <a16:creationId xmlns:a16="http://schemas.microsoft.com/office/drawing/2014/main" id="{E1D7BCF2-103B-44B1-ABB9-6A37DC4F08AA}"/>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3" name="Rectángulo 12">
            <a:extLst>
              <a:ext uri="{FF2B5EF4-FFF2-40B4-BE49-F238E27FC236}">
                <a16:creationId xmlns:a16="http://schemas.microsoft.com/office/drawing/2014/main" id="{83AF4DA2-60D3-4904-A576-96892341BD42}"/>
              </a:ext>
            </a:extLst>
          </p:cNvPr>
          <p:cNvSpPr/>
          <p:nvPr/>
        </p:nvSpPr>
        <p:spPr>
          <a:xfrm>
            <a:off x="5204571" y="765672"/>
            <a:ext cx="1782860" cy="769441"/>
          </a:xfrm>
          <a:prstGeom prst="rect">
            <a:avLst/>
          </a:prstGeom>
          <a:noFill/>
        </p:spPr>
        <p:txBody>
          <a:bodyPr wrap="none" lIns="91440" tIns="45720" rIns="91440" bIns="45720">
            <a:spAutoFit/>
          </a:bodyPr>
          <a:lstStyle/>
          <a:p>
            <a:pPr algn="ctr"/>
            <a:r>
              <a:rPr lang="es-ES" sz="44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Índice</a:t>
            </a:r>
            <a:endParaRPr lang="es-ES" sz="44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sp>
        <p:nvSpPr>
          <p:cNvPr id="14" name="Rectángulo 13">
            <a:hlinkClick r:id="rId2" action="ppaction://hlinksldjump"/>
            <a:extLst>
              <a:ext uri="{FF2B5EF4-FFF2-40B4-BE49-F238E27FC236}">
                <a16:creationId xmlns:a16="http://schemas.microsoft.com/office/drawing/2014/main" id="{B0637D1A-1DA3-453B-8F99-B985D66B0FE9}"/>
              </a:ext>
            </a:extLst>
          </p:cNvPr>
          <p:cNvSpPr/>
          <p:nvPr/>
        </p:nvSpPr>
        <p:spPr>
          <a:xfrm>
            <a:off x="805150" y="1730471"/>
            <a:ext cx="1725345" cy="369332"/>
          </a:xfrm>
          <a:prstGeom prst="rect">
            <a:avLst/>
          </a:prstGeom>
          <a:noFill/>
        </p:spPr>
        <p:txBody>
          <a:bodyPr wrap="none" lIns="91440" tIns="45720" rIns="91440" bIns="45720">
            <a:spAutoFit/>
          </a:bodyPr>
          <a:lstStyle/>
          <a:p>
            <a:pPr algn="ctr"/>
            <a:r>
              <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1. </a:t>
            </a:r>
            <a:r>
              <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Introducción</a:t>
            </a:r>
          </a:p>
        </p:txBody>
      </p:sp>
      <p:sp>
        <p:nvSpPr>
          <p:cNvPr id="15" name="Rectángulo 14">
            <a:hlinkClick r:id="rId3" action="ppaction://hlinksldjump"/>
            <a:extLst>
              <a:ext uri="{FF2B5EF4-FFF2-40B4-BE49-F238E27FC236}">
                <a16:creationId xmlns:a16="http://schemas.microsoft.com/office/drawing/2014/main" id="{A0DA2287-2172-4923-AA9A-795B9584AB5C}"/>
              </a:ext>
            </a:extLst>
          </p:cNvPr>
          <p:cNvSpPr/>
          <p:nvPr/>
        </p:nvSpPr>
        <p:spPr>
          <a:xfrm>
            <a:off x="805150" y="2177451"/>
            <a:ext cx="2321213" cy="646331"/>
          </a:xfrm>
          <a:prstGeom prst="rect">
            <a:avLst/>
          </a:prstGeom>
          <a:noFill/>
        </p:spPr>
        <p:txBody>
          <a:bodyPr wrap="none" lIns="91440" tIns="45720" rIns="91440" bIns="45720">
            <a:spAutoFit/>
          </a:bodyPr>
          <a:lstStyle/>
          <a:p>
            <a:r>
              <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2. </a:t>
            </a:r>
            <a:r>
              <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Perfiles de usuario</a:t>
            </a:r>
          </a:p>
          <a:p>
            <a:pPr algn="ct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6" name="Rectángulo 15">
            <a:hlinkClick r:id="rId4" action="ppaction://hlinksldjump"/>
            <a:extLst>
              <a:ext uri="{FF2B5EF4-FFF2-40B4-BE49-F238E27FC236}">
                <a16:creationId xmlns:a16="http://schemas.microsoft.com/office/drawing/2014/main" id="{B2F3A863-991A-46AF-B9E5-9D3B6AB66099}"/>
              </a:ext>
            </a:extLst>
          </p:cNvPr>
          <p:cNvSpPr/>
          <p:nvPr/>
        </p:nvSpPr>
        <p:spPr>
          <a:xfrm>
            <a:off x="805150" y="3098776"/>
            <a:ext cx="2112117" cy="369332"/>
          </a:xfrm>
          <a:prstGeom prst="rect">
            <a:avLst/>
          </a:prstGeom>
          <a:noFill/>
        </p:spPr>
        <p:txBody>
          <a:bodyPr wrap="none" lIns="91440" tIns="45720" rIns="91440" bIns="45720">
            <a:spAutoFit/>
          </a:bodyPr>
          <a:lstStyle/>
          <a:p>
            <a:r>
              <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4. </a:t>
            </a:r>
            <a:r>
              <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Módulo Carreras</a:t>
            </a:r>
          </a:p>
        </p:txBody>
      </p:sp>
      <p:sp>
        <p:nvSpPr>
          <p:cNvPr id="17" name="Rectángulo 16">
            <a:hlinkClick r:id="rId5" action="ppaction://hlinksldjump"/>
            <a:extLst>
              <a:ext uri="{FF2B5EF4-FFF2-40B4-BE49-F238E27FC236}">
                <a16:creationId xmlns:a16="http://schemas.microsoft.com/office/drawing/2014/main" id="{08FA359D-6CB8-44A8-8B68-D8E24F59EC01}"/>
              </a:ext>
            </a:extLst>
          </p:cNvPr>
          <p:cNvSpPr/>
          <p:nvPr/>
        </p:nvSpPr>
        <p:spPr>
          <a:xfrm>
            <a:off x="805150" y="2637111"/>
            <a:ext cx="2736070" cy="369332"/>
          </a:xfrm>
          <a:prstGeom prst="rect">
            <a:avLst/>
          </a:prstGeom>
          <a:noFill/>
        </p:spPr>
        <p:txBody>
          <a:bodyPr wrap="none" lIns="91440" tIns="45720" rIns="91440" bIns="45720">
            <a:spAutoFit/>
          </a:bodyPr>
          <a:lstStyle/>
          <a:p>
            <a:r>
              <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3. </a:t>
            </a:r>
            <a:r>
              <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Pantalla Administrador</a:t>
            </a:r>
          </a:p>
        </p:txBody>
      </p:sp>
      <p:sp>
        <p:nvSpPr>
          <p:cNvPr id="18" name="Rectángulo 17">
            <a:hlinkClick r:id="rId6" action="ppaction://hlinksldjump"/>
            <a:extLst>
              <a:ext uri="{FF2B5EF4-FFF2-40B4-BE49-F238E27FC236}">
                <a16:creationId xmlns:a16="http://schemas.microsoft.com/office/drawing/2014/main" id="{6FC5024A-F540-483E-A0B0-5B0BD60F8BF5}"/>
              </a:ext>
            </a:extLst>
          </p:cNvPr>
          <p:cNvSpPr/>
          <p:nvPr/>
        </p:nvSpPr>
        <p:spPr>
          <a:xfrm>
            <a:off x="912651" y="3513003"/>
            <a:ext cx="2736070" cy="338554"/>
          </a:xfrm>
          <a:prstGeom prst="rect">
            <a:avLst/>
          </a:prstGeom>
          <a:noFill/>
        </p:spPr>
        <p:txBody>
          <a:bodyPr wrap="square" lIns="91440" tIns="45720" rIns="91440" bIns="45720">
            <a:spAutoFit/>
          </a:bodyPr>
          <a:lstStyle/>
          <a:p>
            <a:r>
              <a:rPr lang="es-ES" sz="1600" dirty="0" err="1">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A_Pantalla</a:t>
            </a:r>
            <a:r>
              <a:rPr lang="es-ES" sz="1600"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 agregar</a:t>
            </a:r>
          </a:p>
        </p:txBody>
      </p:sp>
      <p:sp>
        <p:nvSpPr>
          <p:cNvPr id="19" name="Rectángulo 18">
            <a:hlinkClick r:id="rId7" action="ppaction://hlinksldjump"/>
            <a:extLst>
              <a:ext uri="{FF2B5EF4-FFF2-40B4-BE49-F238E27FC236}">
                <a16:creationId xmlns:a16="http://schemas.microsoft.com/office/drawing/2014/main" id="{0CA786EA-C665-431F-B04E-3C1E4CB988FB}"/>
              </a:ext>
            </a:extLst>
          </p:cNvPr>
          <p:cNvSpPr/>
          <p:nvPr/>
        </p:nvSpPr>
        <p:spPr>
          <a:xfrm>
            <a:off x="912651" y="3845506"/>
            <a:ext cx="2736070" cy="338554"/>
          </a:xfrm>
          <a:prstGeom prst="rect">
            <a:avLst/>
          </a:prstGeom>
          <a:noFill/>
        </p:spPr>
        <p:txBody>
          <a:bodyPr wrap="square" lIns="91440" tIns="45720" rIns="91440" bIns="45720">
            <a:spAutoFit/>
          </a:bodyPr>
          <a:lstStyle/>
          <a:p>
            <a:r>
              <a:rPr lang="es-ES" sz="1600" dirty="0" err="1">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B_Pantalla</a:t>
            </a:r>
            <a:r>
              <a:rPr lang="es-ES" sz="1600"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 ver Datos</a:t>
            </a:r>
          </a:p>
        </p:txBody>
      </p:sp>
      <p:sp>
        <p:nvSpPr>
          <p:cNvPr id="20" name="Rectángulo 19">
            <a:hlinkClick r:id="rId8" action="ppaction://hlinksldjump"/>
            <a:extLst>
              <a:ext uri="{FF2B5EF4-FFF2-40B4-BE49-F238E27FC236}">
                <a16:creationId xmlns:a16="http://schemas.microsoft.com/office/drawing/2014/main" id="{0B50DA2A-450E-4B6A-9BC5-CD6A09D4E121}"/>
              </a:ext>
            </a:extLst>
          </p:cNvPr>
          <p:cNvSpPr/>
          <p:nvPr/>
        </p:nvSpPr>
        <p:spPr>
          <a:xfrm>
            <a:off x="912651" y="4137894"/>
            <a:ext cx="2736070" cy="338554"/>
          </a:xfrm>
          <a:prstGeom prst="rect">
            <a:avLst/>
          </a:prstGeom>
          <a:noFill/>
        </p:spPr>
        <p:txBody>
          <a:bodyPr wrap="square" lIns="91440" tIns="45720" rIns="91440" bIns="45720">
            <a:spAutoFit/>
          </a:bodyPr>
          <a:lstStyle/>
          <a:p>
            <a:r>
              <a:rPr lang="es-ES" sz="1600" dirty="0" err="1">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C_Pantalla</a:t>
            </a:r>
            <a:r>
              <a:rPr lang="es-ES" sz="1600"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 ver Años</a:t>
            </a:r>
          </a:p>
        </p:txBody>
      </p:sp>
      <p:sp>
        <p:nvSpPr>
          <p:cNvPr id="21" name="Rectángulo 20">
            <a:hlinkClick r:id="rId9" action="ppaction://hlinksldjump"/>
            <a:extLst>
              <a:ext uri="{FF2B5EF4-FFF2-40B4-BE49-F238E27FC236}">
                <a16:creationId xmlns:a16="http://schemas.microsoft.com/office/drawing/2014/main" id="{65922491-C9D8-4358-9122-EDB9973F410F}"/>
              </a:ext>
            </a:extLst>
          </p:cNvPr>
          <p:cNvSpPr/>
          <p:nvPr/>
        </p:nvSpPr>
        <p:spPr>
          <a:xfrm>
            <a:off x="912650" y="4446351"/>
            <a:ext cx="2736070" cy="338554"/>
          </a:xfrm>
          <a:prstGeom prst="rect">
            <a:avLst/>
          </a:prstGeom>
          <a:noFill/>
        </p:spPr>
        <p:txBody>
          <a:bodyPr wrap="square" lIns="91440" tIns="45720" rIns="91440" bIns="45720">
            <a:spAutoFit/>
          </a:bodyPr>
          <a:lstStyle/>
          <a:p>
            <a:r>
              <a:rPr lang="es-ES" sz="1600" dirty="0" err="1">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D_Pantalla</a:t>
            </a:r>
            <a:r>
              <a:rPr lang="es-ES" sz="1600"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 Ver mesas fin.</a:t>
            </a:r>
          </a:p>
        </p:txBody>
      </p:sp>
      <p:sp>
        <p:nvSpPr>
          <p:cNvPr id="22" name="Rectángulo 21">
            <a:hlinkClick r:id="rId10" action="ppaction://hlinksldjump"/>
            <a:extLst>
              <a:ext uri="{FF2B5EF4-FFF2-40B4-BE49-F238E27FC236}">
                <a16:creationId xmlns:a16="http://schemas.microsoft.com/office/drawing/2014/main" id="{AC2EC338-B410-4A10-A9AA-BBE43F9E752A}"/>
              </a:ext>
            </a:extLst>
          </p:cNvPr>
          <p:cNvSpPr/>
          <p:nvPr/>
        </p:nvSpPr>
        <p:spPr>
          <a:xfrm>
            <a:off x="912650" y="4778854"/>
            <a:ext cx="3155549" cy="338554"/>
          </a:xfrm>
          <a:prstGeom prst="rect">
            <a:avLst/>
          </a:prstGeom>
          <a:noFill/>
        </p:spPr>
        <p:txBody>
          <a:bodyPr wrap="square" lIns="91440" tIns="45720" rIns="91440" bIns="45720">
            <a:spAutoFit/>
          </a:bodyPr>
          <a:lstStyle/>
          <a:p>
            <a:r>
              <a:rPr lang="es-ES" sz="1600" dirty="0" err="1">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E_Pantalla</a:t>
            </a:r>
            <a:r>
              <a:rPr lang="es-ES" sz="1600"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 ver equivalencias.</a:t>
            </a:r>
          </a:p>
        </p:txBody>
      </p:sp>
      <p:sp>
        <p:nvSpPr>
          <p:cNvPr id="23" name="Rectángulo 22">
            <a:hlinkClick r:id="rId11" action="ppaction://hlinksldjump"/>
            <a:extLst>
              <a:ext uri="{FF2B5EF4-FFF2-40B4-BE49-F238E27FC236}">
                <a16:creationId xmlns:a16="http://schemas.microsoft.com/office/drawing/2014/main" id="{4CFADA23-89C3-4BAD-8F84-70D55DEDCAD0}"/>
              </a:ext>
            </a:extLst>
          </p:cNvPr>
          <p:cNvSpPr/>
          <p:nvPr/>
        </p:nvSpPr>
        <p:spPr>
          <a:xfrm>
            <a:off x="912649" y="5111357"/>
            <a:ext cx="3155549" cy="338554"/>
          </a:xfrm>
          <a:prstGeom prst="rect">
            <a:avLst/>
          </a:prstGeom>
          <a:noFill/>
        </p:spPr>
        <p:txBody>
          <a:bodyPr wrap="square" lIns="91440" tIns="45720" rIns="91440" bIns="45720">
            <a:spAutoFit/>
          </a:bodyPr>
          <a:lstStyle/>
          <a:p>
            <a:r>
              <a:rPr lang="es-ES" sz="1600" dirty="0" err="1">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F_Pantalla</a:t>
            </a:r>
            <a:r>
              <a:rPr lang="es-ES" sz="1600"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 ver correlativas.</a:t>
            </a:r>
          </a:p>
        </p:txBody>
      </p:sp>
    </p:spTree>
    <p:extLst>
      <p:ext uri="{BB962C8B-B14F-4D97-AF65-F5344CB8AC3E}">
        <p14:creationId xmlns:p14="http://schemas.microsoft.com/office/powerpoint/2010/main" val="137531219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6" name="Rectángulo 5">
            <a:extLst>
              <a:ext uri="{FF2B5EF4-FFF2-40B4-BE49-F238E27FC236}">
                <a16:creationId xmlns:a16="http://schemas.microsoft.com/office/drawing/2014/main" id="{1E15F5CF-02B3-45B0-BC12-7CD5ADBEE101}"/>
              </a:ext>
            </a:extLst>
          </p:cNvPr>
          <p:cNvSpPr/>
          <p:nvPr/>
        </p:nvSpPr>
        <p:spPr>
          <a:xfrm>
            <a:off x="4184258" y="627173"/>
            <a:ext cx="3823484" cy="830997"/>
          </a:xfrm>
          <a:prstGeom prst="rect">
            <a:avLst/>
          </a:prstGeom>
          <a:noFill/>
        </p:spPr>
        <p:txBody>
          <a:bodyPr wrap="none" lIns="91440" tIns="45720" rIns="91440" bIns="45720">
            <a:spAutoFit/>
          </a:bodyPr>
          <a:lstStyle/>
          <a:p>
            <a:pPr algn="ctr"/>
            <a:r>
              <a:rPr lang="es-ES" sz="48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Introducción</a:t>
            </a:r>
            <a:endParaRPr lang="es-ES" sz="48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sp>
        <p:nvSpPr>
          <p:cNvPr id="9" name="Rectángulo 8">
            <a:extLst>
              <a:ext uri="{FF2B5EF4-FFF2-40B4-BE49-F238E27FC236}">
                <a16:creationId xmlns:a16="http://schemas.microsoft.com/office/drawing/2014/main" id="{533BCBA6-3A7D-4B4C-862B-1053CF8DADA3}"/>
              </a:ext>
            </a:extLst>
          </p:cNvPr>
          <p:cNvSpPr/>
          <p:nvPr/>
        </p:nvSpPr>
        <p:spPr>
          <a:xfrm>
            <a:off x="165305" y="1815852"/>
            <a:ext cx="11861389" cy="2308324"/>
          </a:xfrm>
          <a:prstGeom prst="rect">
            <a:avLst/>
          </a:prstGeom>
          <a:noFill/>
        </p:spPr>
        <p:txBody>
          <a:bodyPr wrap="square" lIns="91440" tIns="45720" rIns="91440" bIns="45720">
            <a:spAutoFit/>
          </a:bodyPr>
          <a:lstStyle/>
          <a:p>
            <a:pPr algn="l"/>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Somos alumnos de 3.er año de la Tecnicatura Superior en Análisis, Desarrollo y Programación de</a:t>
            </a:r>
          </a:p>
          <a:p>
            <a:pPr algn="l"/>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Aplicaciones, y en el marco de la materia Práctica Profesional, llevamos adelante el desarrollo de este</a:t>
            </a:r>
          </a:p>
          <a:p>
            <a:pPr algn="l"/>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proyecto, cuyo objetivo principal es diseñar y poner en funcionamiento un sistema de gestión integral que</a:t>
            </a:r>
          </a:p>
          <a:p>
            <a:pPr algn="l"/>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permita la administración eficiente de la información entre Administrador, Profesores y Alumnos. </a:t>
            </a:r>
            <a:endParaRPr lang="es-MX" dirty="0">
              <a:solidFill>
                <a:srgbClr val="101716"/>
              </a:solidFill>
              <a:latin typeface="Tahoma" panose="020B0604030504040204" pitchFamily="34" charset="0"/>
              <a:ea typeface="Tahoma" panose="020B0604030504040204" pitchFamily="34" charset="0"/>
              <a:cs typeface="Tahoma" panose="020B0604030504040204" pitchFamily="34" charset="0"/>
            </a:endParaRPr>
          </a:p>
          <a:p>
            <a:pPr algn="l"/>
            <a:endParaRPr lang="es-MX" u="sng" dirty="0">
              <a:ln w="0"/>
              <a:solidFill>
                <a:srgbClr val="101716"/>
              </a:solidFill>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a:p>
            <a:pPr algn="l"/>
            <a:r>
              <a:rPr lang="es-MX" dirty="0">
                <a:ln w="0"/>
                <a:solidFill>
                  <a:srgbClr val="101716"/>
                </a:solidFill>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También, se encargará de dar de alta carreras, alumnos y profesores y controlará que los alumnos se anoten solo a las materias que corresponden, respetando estrictamente las correlatividades entre materias</a:t>
            </a:r>
          </a:p>
          <a:p>
            <a:pPr algn="l"/>
            <a:endPar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2" name="Flecha: a la derecha 11">
            <a:hlinkClick r:id="rId2" action="ppaction://hlinksldjump"/>
            <a:extLst>
              <a:ext uri="{FF2B5EF4-FFF2-40B4-BE49-F238E27FC236}">
                <a16:creationId xmlns:a16="http://schemas.microsoft.com/office/drawing/2014/main" id="{BD682751-2197-4C0B-99B9-058F98357686}"/>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Rectángulo 12">
            <a:hlinkClick r:id="rId2" action="ppaction://hlinksldjump"/>
            <a:extLst>
              <a:ext uri="{FF2B5EF4-FFF2-40B4-BE49-F238E27FC236}">
                <a16:creationId xmlns:a16="http://schemas.microsoft.com/office/drawing/2014/main" id="{B3791093-99E1-43EE-B4DA-D83F5BB1912B}"/>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pic>
        <p:nvPicPr>
          <p:cNvPr id="3" name="Imagen 2">
            <a:extLst>
              <a:ext uri="{FF2B5EF4-FFF2-40B4-BE49-F238E27FC236}">
                <a16:creationId xmlns:a16="http://schemas.microsoft.com/office/drawing/2014/main" id="{922B8A63-6939-4370-8704-0987C9512A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4067" y="3747062"/>
            <a:ext cx="2663864" cy="2663864"/>
          </a:xfrm>
          <a:prstGeom prst="rect">
            <a:avLst/>
          </a:prstGeom>
        </p:spPr>
      </p:pic>
    </p:spTree>
    <p:extLst>
      <p:ext uri="{BB962C8B-B14F-4D97-AF65-F5344CB8AC3E}">
        <p14:creationId xmlns:p14="http://schemas.microsoft.com/office/powerpoint/2010/main" val="4276433674"/>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1E15F5CF-02B3-45B0-BC12-7CD5ADBEE101}"/>
              </a:ext>
            </a:extLst>
          </p:cNvPr>
          <p:cNvSpPr/>
          <p:nvPr/>
        </p:nvSpPr>
        <p:spPr>
          <a:xfrm>
            <a:off x="198390" y="722423"/>
            <a:ext cx="11795217" cy="646331"/>
          </a:xfrm>
          <a:prstGeom prst="rect">
            <a:avLst/>
          </a:prstGeom>
          <a:noFill/>
        </p:spPr>
        <p:txBody>
          <a:bodyPr wrap="none" lIns="91440" tIns="45720" rIns="91440" bIns="45720">
            <a:spAutoFit/>
          </a:bodyPr>
          <a:lstStyle/>
          <a:p>
            <a:pPr algn="ctr"/>
            <a:r>
              <a:rPr lang="es-ES" sz="35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Este sistema contempla distintos perfiles de usuarios:</a:t>
            </a:r>
            <a:endParaRPr lang="es-ES" sz="35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pic>
        <p:nvPicPr>
          <p:cNvPr id="5" name="Imagen 4">
            <a:extLst>
              <a:ext uri="{FF2B5EF4-FFF2-40B4-BE49-F238E27FC236}">
                <a16:creationId xmlns:a16="http://schemas.microsoft.com/office/drawing/2014/main" id="{2E0066D4-A86D-4D60-9296-76FB5370B5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192" y="1181274"/>
            <a:ext cx="2399381" cy="2270237"/>
          </a:xfrm>
          <a:prstGeom prst="rect">
            <a:avLst/>
          </a:prstGeom>
        </p:spPr>
      </p:pic>
      <p:pic>
        <p:nvPicPr>
          <p:cNvPr id="9" name="Imagen 8">
            <a:extLst>
              <a:ext uri="{FF2B5EF4-FFF2-40B4-BE49-F238E27FC236}">
                <a16:creationId xmlns:a16="http://schemas.microsoft.com/office/drawing/2014/main" id="{D3F7F904-0D26-4D91-99B5-98082B149D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87791" y="1448542"/>
            <a:ext cx="1819620" cy="1703032"/>
          </a:xfrm>
          <a:prstGeom prst="rect">
            <a:avLst/>
          </a:prstGeom>
        </p:spPr>
      </p:pic>
      <p:pic>
        <p:nvPicPr>
          <p:cNvPr id="15" name="Imagen 14">
            <a:extLst>
              <a:ext uri="{FF2B5EF4-FFF2-40B4-BE49-F238E27FC236}">
                <a16:creationId xmlns:a16="http://schemas.microsoft.com/office/drawing/2014/main" id="{EC42B218-EA31-4613-947A-8B63310BBA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5232" y="1467278"/>
            <a:ext cx="1904900" cy="1690218"/>
          </a:xfrm>
          <a:prstGeom prst="rect">
            <a:avLst/>
          </a:prstGeom>
        </p:spPr>
      </p:pic>
      <p:sp>
        <p:nvSpPr>
          <p:cNvPr id="12" name="Rectángulo 11">
            <a:extLst>
              <a:ext uri="{FF2B5EF4-FFF2-40B4-BE49-F238E27FC236}">
                <a16:creationId xmlns:a16="http://schemas.microsoft.com/office/drawing/2014/main" id="{75CAAE21-A352-43A8-AEEC-F5375497AD8C}"/>
              </a:ext>
            </a:extLst>
          </p:cNvPr>
          <p:cNvSpPr>
            <a:spLocks/>
          </p:cNvSpPr>
          <p:nvPr/>
        </p:nvSpPr>
        <p:spPr>
          <a:xfrm>
            <a:off x="501325" y="3213313"/>
            <a:ext cx="2786340" cy="646331"/>
          </a:xfrm>
          <a:prstGeom prst="rect">
            <a:avLst/>
          </a:prstGeom>
          <a:noFill/>
        </p:spPr>
        <p:txBody>
          <a:bodyPr wrap="square" lIns="91440" tIns="45720" rIns="91440" bIns="45720">
            <a:spAutoFit/>
          </a:bodyPr>
          <a:lstStyle/>
          <a:p>
            <a:pPr algn="l"/>
            <a:r>
              <a:rPr lang="es-MX" b="1" dirty="0">
                <a:ln w="0"/>
                <a:solidFill>
                  <a:srgbClr val="101716"/>
                </a:solidFill>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Usuario Administrador</a:t>
            </a:r>
          </a:p>
          <a:p>
            <a:pPr algn="l"/>
            <a:endPar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3" name="Rectángulo 12">
            <a:extLst>
              <a:ext uri="{FF2B5EF4-FFF2-40B4-BE49-F238E27FC236}">
                <a16:creationId xmlns:a16="http://schemas.microsoft.com/office/drawing/2014/main" id="{2CBD5C6A-3480-42C7-A906-CC3313C2454F}"/>
              </a:ext>
            </a:extLst>
          </p:cNvPr>
          <p:cNvSpPr>
            <a:spLocks/>
          </p:cNvSpPr>
          <p:nvPr/>
        </p:nvSpPr>
        <p:spPr>
          <a:xfrm>
            <a:off x="4830432" y="3209552"/>
            <a:ext cx="2117887" cy="646331"/>
          </a:xfrm>
          <a:prstGeom prst="rect">
            <a:avLst/>
          </a:prstGeom>
          <a:noFill/>
        </p:spPr>
        <p:txBody>
          <a:bodyPr wrap="square" lIns="91440" tIns="45720" rIns="91440" bIns="45720">
            <a:spAutoFit/>
          </a:bodyPr>
          <a:lstStyle/>
          <a:p>
            <a:pPr algn="l"/>
            <a:r>
              <a:rPr lang="es-MX" b="1" dirty="0">
                <a:ln w="0"/>
                <a:solidFill>
                  <a:srgbClr val="101716"/>
                </a:solidFill>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Usuario Profesor</a:t>
            </a:r>
          </a:p>
          <a:p>
            <a:pPr algn="l"/>
            <a:endPar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4" name="Rectángulo 13">
            <a:extLst>
              <a:ext uri="{FF2B5EF4-FFF2-40B4-BE49-F238E27FC236}">
                <a16:creationId xmlns:a16="http://schemas.microsoft.com/office/drawing/2014/main" id="{AEA8CB85-1F47-46C0-8995-04B4C2027E46}"/>
              </a:ext>
            </a:extLst>
          </p:cNvPr>
          <p:cNvSpPr>
            <a:spLocks/>
          </p:cNvSpPr>
          <p:nvPr/>
        </p:nvSpPr>
        <p:spPr>
          <a:xfrm>
            <a:off x="8881528" y="3209552"/>
            <a:ext cx="2021707" cy="646331"/>
          </a:xfrm>
          <a:prstGeom prst="rect">
            <a:avLst/>
          </a:prstGeom>
          <a:noFill/>
        </p:spPr>
        <p:txBody>
          <a:bodyPr wrap="square" lIns="91440" tIns="45720" rIns="91440" bIns="45720">
            <a:spAutoFit/>
          </a:bodyPr>
          <a:lstStyle/>
          <a:p>
            <a:pPr algn="l"/>
            <a:r>
              <a:rPr lang="es-MX" b="1" dirty="0">
                <a:ln w="0"/>
                <a:solidFill>
                  <a:srgbClr val="101716"/>
                </a:solidFill>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Usuario Alumno</a:t>
            </a:r>
          </a:p>
          <a:p>
            <a:pPr algn="l"/>
            <a:endPar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6" name="Rectángulo 15">
            <a:extLst>
              <a:ext uri="{FF2B5EF4-FFF2-40B4-BE49-F238E27FC236}">
                <a16:creationId xmlns:a16="http://schemas.microsoft.com/office/drawing/2014/main" id="{57A978B2-D76D-4314-8F54-89C7C70445D0}"/>
              </a:ext>
            </a:extLst>
          </p:cNvPr>
          <p:cNvSpPr/>
          <p:nvPr/>
        </p:nvSpPr>
        <p:spPr>
          <a:xfrm>
            <a:off x="405635" y="3621827"/>
            <a:ext cx="2930578" cy="2308324"/>
          </a:xfrm>
          <a:prstGeom prst="rect">
            <a:avLst/>
          </a:prstGeom>
          <a:noFill/>
        </p:spPr>
        <p:txBody>
          <a:bodyPr wrap="square" lIns="91440" tIns="45720" rIns="91440" bIns="45720">
            <a:spAutoFit/>
          </a:bodyPr>
          <a:lstStyle/>
          <a:p>
            <a:pPr algn="l"/>
            <a:r>
              <a:rPr lang="es-MX" dirty="0">
                <a:ln w="0"/>
                <a:solidFill>
                  <a:srgbClr val="101716"/>
                </a:solidFill>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El usuario administrativo posee acceso completo a la gestión del sistema, pudiendo crear, modificar y eliminar información relacionada con carreras, materias, cursos, horarios y alumnos.</a:t>
            </a:r>
            <a:endPar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8" name="Rectángulo 17">
            <a:extLst>
              <a:ext uri="{FF2B5EF4-FFF2-40B4-BE49-F238E27FC236}">
                <a16:creationId xmlns:a16="http://schemas.microsoft.com/office/drawing/2014/main" id="{33D0DAD2-10F3-40DF-827A-4CBE8BE4C9C2}"/>
              </a:ext>
            </a:extLst>
          </p:cNvPr>
          <p:cNvSpPr/>
          <p:nvPr/>
        </p:nvSpPr>
        <p:spPr>
          <a:xfrm>
            <a:off x="4581187" y="3621827"/>
            <a:ext cx="2930578" cy="2031325"/>
          </a:xfrm>
          <a:prstGeom prst="rect">
            <a:avLst/>
          </a:prstGeom>
          <a:noFill/>
        </p:spPr>
        <p:txBody>
          <a:bodyPr wrap="square" lIns="91440" tIns="45720" rIns="91440" bIns="45720">
            <a:spAutoFit/>
          </a:bodyPr>
          <a:lstStyle/>
          <a:p>
            <a:pPr algn="l"/>
            <a:r>
              <a:rPr lang="es-MX" dirty="0">
                <a:ln w="0"/>
                <a:solidFill>
                  <a:srgbClr val="101716"/>
                </a:solidFill>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El usuario profesor cuenta con acceso limitado, orientado principalmente a la consulta de información, la gestión de sus cursos asignados y el registro de asistencia.</a:t>
            </a:r>
            <a:endPar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9" name="Rectángulo 18">
            <a:extLst>
              <a:ext uri="{FF2B5EF4-FFF2-40B4-BE49-F238E27FC236}">
                <a16:creationId xmlns:a16="http://schemas.microsoft.com/office/drawing/2014/main" id="{056AF7FA-3C97-4E5B-A78F-8BBD26628F7A}"/>
              </a:ext>
            </a:extLst>
          </p:cNvPr>
          <p:cNvSpPr/>
          <p:nvPr/>
        </p:nvSpPr>
        <p:spPr>
          <a:xfrm>
            <a:off x="8576148" y="3621827"/>
            <a:ext cx="3035844" cy="2308324"/>
          </a:xfrm>
          <a:prstGeom prst="rect">
            <a:avLst/>
          </a:prstGeom>
          <a:noFill/>
        </p:spPr>
        <p:txBody>
          <a:bodyPr wrap="square" lIns="91440" tIns="45720" rIns="91440" bIns="45720">
            <a:spAutoFit/>
          </a:bodyPr>
          <a:lstStyle/>
          <a:p>
            <a:pPr algn="l"/>
            <a:r>
              <a:rPr lang="es-MX" dirty="0">
                <a:ln w="0"/>
                <a:solidFill>
                  <a:srgbClr val="101716"/>
                </a:solidFill>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El usuario alumno podrá inscribirse en las materias. El sistema se encargará de permitir la inscripción únicamente en aquellas materias cuyas correlatividades estén aprobadas.</a:t>
            </a:r>
            <a:endPar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7" name="Flecha: a la derecha 16">
            <a:hlinkClick r:id="rId5" action="ppaction://hlinksldjump"/>
            <a:extLst>
              <a:ext uri="{FF2B5EF4-FFF2-40B4-BE49-F238E27FC236}">
                <a16:creationId xmlns:a16="http://schemas.microsoft.com/office/drawing/2014/main" id="{4ECB590A-E09C-4418-8B71-0FF2A23477CE}"/>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2" name="Rectángulo 21">
            <a:hlinkClick r:id="rId5" action="ppaction://hlinksldjump"/>
            <a:extLst>
              <a:ext uri="{FF2B5EF4-FFF2-40B4-BE49-F238E27FC236}">
                <a16:creationId xmlns:a16="http://schemas.microsoft.com/office/drawing/2014/main" id="{3290DB1C-1CD5-40DE-875D-FE482029B246}"/>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950327095"/>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1E15F5CF-02B3-45B0-BC12-7CD5ADBEE101}"/>
              </a:ext>
            </a:extLst>
          </p:cNvPr>
          <p:cNvSpPr/>
          <p:nvPr/>
        </p:nvSpPr>
        <p:spPr>
          <a:xfrm>
            <a:off x="3489363" y="714412"/>
            <a:ext cx="5213286" cy="584775"/>
          </a:xfrm>
          <a:prstGeom prst="rect">
            <a:avLst/>
          </a:prstGeom>
          <a:noFill/>
        </p:spPr>
        <p:txBody>
          <a:bodyPr wrap="none" lIns="91440" tIns="45720" rIns="91440" bIns="45720">
            <a:spAutoFit/>
          </a:bodyPr>
          <a:lstStyle/>
          <a:p>
            <a:pPr algn="ctr"/>
            <a:r>
              <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Pantalla del administrador</a:t>
            </a:r>
          </a:p>
        </p:txBody>
      </p:sp>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0" name="AutoShape 4" descr="Imagen generada: Avatar profesional con traje elegante">
            <a:extLst>
              <a:ext uri="{FF2B5EF4-FFF2-40B4-BE49-F238E27FC236}">
                <a16:creationId xmlns:a16="http://schemas.microsoft.com/office/drawing/2014/main" id="{96DF5861-3F12-471D-B486-2D0E10548896}"/>
              </a:ext>
            </a:extLst>
          </p:cNvPr>
          <p:cNvSpPr>
            <a:spLocks noChangeAspect="1" noChangeArrowheads="1"/>
          </p:cNvSpPr>
          <p:nvPr/>
        </p:nvSpPr>
        <p:spPr bwMode="auto">
          <a:xfrm>
            <a:off x="5100910" y="4661516"/>
            <a:ext cx="4696691" cy="46966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pic>
        <p:nvPicPr>
          <p:cNvPr id="22" name="Imagen 21">
            <a:extLst>
              <a:ext uri="{FF2B5EF4-FFF2-40B4-BE49-F238E27FC236}">
                <a16:creationId xmlns:a16="http://schemas.microsoft.com/office/drawing/2014/main" id="{E53A1C74-846E-44F0-9CBF-A7964EBBD6EE}"/>
              </a:ext>
            </a:extLst>
          </p:cNvPr>
          <p:cNvPicPr>
            <a:picLocks noChangeAspect="1"/>
          </p:cNvPicPr>
          <p:nvPr/>
        </p:nvPicPr>
        <p:blipFill>
          <a:blip r:embed="rId2"/>
          <a:stretch>
            <a:fillRect/>
          </a:stretch>
        </p:blipFill>
        <p:spPr>
          <a:xfrm>
            <a:off x="122307" y="1422590"/>
            <a:ext cx="6476363" cy="4262133"/>
          </a:xfrm>
          <a:prstGeom prst="rect">
            <a:avLst/>
          </a:prstGeom>
        </p:spPr>
      </p:pic>
      <p:sp>
        <p:nvSpPr>
          <p:cNvPr id="23" name="Rectángulo 22">
            <a:extLst>
              <a:ext uri="{FF2B5EF4-FFF2-40B4-BE49-F238E27FC236}">
                <a16:creationId xmlns:a16="http://schemas.microsoft.com/office/drawing/2014/main" id="{AF787346-3DE7-44C0-AEB3-A4844AD0FB09}"/>
              </a:ext>
            </a:extLst>
          </p:cNvPr>
          <p:cNvSpPr/>
          <p:nvPr/>
        </p:nvSpPr>
        <p:spPr>
          <a:xfrm>
            <a:off x="6632753" y="1628506"/>
            <a:ext cx="5213286" cy="2031325"/>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Al acceder al sistema, el usuario visualiza un panel lateral de</a:t>
            </a:r>
          </a:p>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navegación ubicado a la izquierda, que organiza</a:t>
            </a:r>
          </a:p>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las funcionalidades principales del sistema.</a:t>
            </a:r>
          </a:p>
          <a:p>
            <a:r>
              <a:rPr lang="es-MX" dirty="0">
                <a:solidFill>
                  <a:srgbClr val="101716"/>
                </a:solidFill>
                <a:latin typeface="Tahoma" panose="020B0604030504040204" pitchFamily="34" charset="0"/>
                <a:ea typeface="Tahoma" panose="020B0604030504040204" pitchFamily="34" charset="0"/>
                <a:cs typeface="Tahoma" panose="020B0604030504040204" pitchFamily="34" charset="0"/>
              </a:rPr>
              <a:t>El usuario podrá acceder a los distintos módulos del sistema mediante estos botones</a:t>
            </a:r>
            <a:endPar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endParaRPr>
          </a:p>
          <a:p>
            <a:endPar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4" name="Elipse 3">
            <a:extLst>
              <a:ext uri="{FF2B5EF4-FFF2-40B4-BE49-F238E27FC236}">
                <a16:creationId xmlns:a16="http://schemas.microsoft.com/office/drawing/2014/main" id="{8F6DEE12-A24C-4E21-A379-FEA38E546FCB}"/>
              </a:ext>
            </a:extLst>
          </p:cNvPr>
          <p:cNvSpPr/>
          <p:nvPr/>
        </p:nvSpPr>
        <p:spPr>
          <a:xfrm>
            <a:off x="0" y="1628506"/>
            <a:ext cx="1311563" cy="2620221"/>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5" name="Elipse 34">
            <a:extLst>
              <a:ext uri="{FF2B5EF4-FFF2-40B4-BE49-F238E27FC236}">
                <a16:creationId xmlns:a16="http://schemas.microsoft.com/office/drawing/2014/main" id="{64AB85EE-98EF-4F0A-AEC8-1126A6A4F1A2}"/>
              </a:ext>
            </a:extLst>
          </p:cNvPr>
          <p:cNvSpPr/>
          <p:nvPr/>
        </p:nvSpPr>
        <p:spPr>
          <a:xfrm>
            <a:off x="0" y="5182563"/>
            <a:ext cx="729673" cy="63253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6" name="Rectángulo 35">
            <a:extLst>
              <a:ext uri="{FF2B5EF4-FFF2-40B4-BE49-F238E27FC236}">
                <a16:creationId xmlns:a16="http://schemas.microsoft.com/office/drawing/2014/main" id="{9D83CA79-9F78-4A73-AA8E-37ACE5492288}"/>
              </a:ext>
            </a:extLst>
          </p:cNvPr>
          <p:cNvSpPr/>
          <p:nvPr/>
        </p:nvSpPr>
        <p:spPr>
          <a:xfrm>
            <a:off x="6671972" y="3783772"/>
            <a:ext cx="5213286" cy="1200329"/>
          </a:xfrm>
          <a:prstGeom prst="rect">
            <a:avLst/>
          </a:prstGeom>
          <a:noFill/>
        </p:spPr>
        <p:txBody>
          <a:bodyPr wrap="square" lIns="91440" tIns="45720" rIns="91440" bIns="45720">
            <a:spAutoFit/>
          </a:bodyPr>
          <a:lstStyle/>
          <a:p>
            <a:r>
              <a:rPr lang="es-MX" dirty="0">
                <a:solidFill>
                  <a:srgbClr val="101716"/>
                </a:solidFill>
                <a:latin typeface="Tahoma" panose="020B0604030504040204" pitchFamily="34" charset="0"/>
                <a:ea typeface="Tahoma" panose="020B0604030504040204" pitchFamily="34" charset="0"/>
                <a:cs typeface="Tahoma" panose="020B0604030504040204" pitchFamily="34" charset="0"/>
              </a:rPr>
              <a:t>Este botón con la imagen de unos engranajes que representa las opciones, permite ingresar al control y gestión de cursos y a los parámetros</a:t>
            </a:r>
            <a:endPar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endParaRPr>
          </a:p>
          <a:p>
            <a:endParaRPr lang="es-ES" u="sng"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cxnSp>
        <p:nvCxnSpPr>
          <p:cNvPr id="3" name="Conector: angular 2">
            <a:extLst>
              <a:ext uri="{FF2B5EF4-FFF2-40B4-BE49-F238E27FC236}">
                <a16:creationId xmlns:a16="http://schemas.microsoft.com/office/drawing/2014/main" id="{FEBFBF9D-68EB-4520-B112-C8489108F716}"/>
              </a:ext>
            </a:extLst>
          </p:cNvPr>
          <p:cNvCxnSpPr>
            <a:stCxn id="4" idx="0"/>
            <a:endCxn id="23" idx="0"/>
          </p:cNvCxnSpPr>
          <p:nvPr/>
        </p:nvCxnSpPr>
        <p:spPr>
          <a:xfrm rot="5400000" flipH="1" flipV="1">
            <a:off x="4947589" y="-2663301"/>
            <a:ext cx="12700" cy="8583614"/>
          </a:xfrm>
          <a:prstGeom prst="bentConnector3">
            <a:avLst>
              <a:gd name="adj1" fmla="val 249903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angular 15">
            <a:extLst>
              <a:ext uri="{FF2B5EF4-FFF2-40B4-BE49-F238E27FC236}">
                <a16:creationId xmlns:a16="http://schemas.microsoft.com/office/drawing/2014/main" id="{F57938E1-425E-49F4-9EE6-447A51B8C489}"/>
              </a:ext>
            </a:extLst>
          </p:cNvPr>
          <p:cNvCxnSpPr>
            <a:cxnSpLocks/>
            <a:stCxn id="35" idx="4"/>
            <a:endCxn id="36" idx="2"/>
          </p:cNvCxnSpPr>
          <p:nvPr/>
        </p:nvCxnSpPr>
        <p:spPr>
          <a:xfrm rot="5400000" flipH="1" flipV="1">
            <a:off x="4306710" y="843192"/>
            <a:ext cx="1030032" cy="8913778"/>
          </a:xfrm>
          <a:prstGeom prst="bentConnector3">
            <a:avLst>
              <a:gd name="adj1" fmla="val -22193"/>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Flecha: a la derecha 23">
            <a:hlinkClick r:id="rId3" action="ppaction://hlinksldjump"/>
            <a:extLst>
              <a:ext uri="{FF2B5EF4-FFF2-40B4-BE49-F238E27FC236}">
                <a16:creationId xmlns:a16="http://schemas.microsoft.com/office/drawing/2014/main" id="{386B6478-2F1D-4280-B044-3F7B0E0361DA}"/>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5" name="Rectángulo 24">
            <a:hlinkClick r:id="rId3" action="ppaction://hlinksldjump"/>
            <a:extLst>
              <a:ext uri="{FF2B5EF4-FFF2-40B4-BE49-F238E27FC236}">
                <a16:creationId xmlns:a16="http://schemas.microsoft.com/office/drawing/2014/main" id="{1F0304B5-5DA5-4FCF-B8BE-FA992147B09F}"/>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1042860869"/>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1E15F5CF-02B3-45B0-BC12-7CD5ADBEE101}"/>
              </a:ext>
            </a:extLst>
          </p:cNvPr>
          <p:cNvSpPr/>
          <p:nvPr/>
        </p:nvSpPr>
        <p:spPr>
          <a:xfrm>
            <a:off x="4449556" y="722423"/>
            <a:ext cx="3292889" cy="584775"/>
          </a:xfrm>
          <a:prstGeom prst="rect">
            <a:avLst/>
          </a:prstGeom>
          <a:noFill/>
        </p:spPr>
        <p:txBody>
          <a:bodyPr wrap="none" lIns="91440" tIns="45720" rIns="91440" bIns="45720">
            <a:spAutoFit/>
          </a:bodyPr>
          <a:lstStyle/>
          <a:p>
            <a:pPr algn="ctr"/>
            <a:r>
              <a:rPr lang="es-ES" sz="32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Módulo Carreras</a:t>
            </a:r>
            <a:endPar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20" name="Flecha: a la derecha 19">
            <a:hlinkClick r:id="rId2" action="ppaction://hlinksldjump"/>
            <a:extLst>
              <a:ext uri="{FF2B5EF4-FFF2-40B4-BE49-F238E27FC236}">
                <a16:creationId xmlns:a16="http://schemas.microsoft.com/office/drawing/2014/main" id="{CE459A00-3AA6-421D-AB57-03719845A813}"/>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1" name="Rectángulo 20">
            <a:hlinkClick r:id="rId2" action="ppaction://hlinksldjump"/>
            <a:extLst>
              <a:ext uri="{FF2B5EF4-FFF2-40B4-BE49-F238E27FC236}">
                <a16:creationId xmlns:a16="http://schemas.microsoft.com/office/drawing/2014/main" id="{680DB96A-81D6-4ADC-A3ED-D8CA96272714}"/>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pic>
        <p:nvPicPr>
          <p:cNvPr id="3" name="Imagen 2">
            <a:extLst>
              <a:ext uri="{FF2B5EF4-FFF2-40B4-BE49-F238E27FC236}">
                <a16:creationId xmlns:a16="http://schemas.microsoft.com/office/drawing/2014/main" id="{B49B83BF-7230-4D50-8A51-7A28ABCBABC2}"/>
              </a:ext>
            </a:extLst>
          </p:cNvPr>
          <p:cNvPicPr>
            <a:picLocks noChangeAspect="1"/>
          </p:cNvPicPr>
          <p:nvPr/>
        </p:nvPicPr>
        <p:blipFill>
          <a:blip r:embed="rId3"/>
          <a:stretch>
            <a:fillRect/>
          </a:stretch>
        </p:blipFill>
        <p:spPr>
          <a:xfrm>
            <a:off x="124287" y="1476065"/>
            <a:ext cx="6476363" cy="4266229"/>
          </a:xfrm>
          <a:prstGeom prst="rect">
            <a:avLst/>
          </a:prstGeom>
        </p:spPr>
      </p:pic>
      <p:sp>
        <p:nvSpPr>
          <p:cNvPr id="9" name="Rectángulo 8">
            <a:extLst>
              <a:ext uri="{FF2B5EF4-FFF2-40B4-BE49-F238E27FC236}">
                <a16:creationId xmlns:a16="http://schemas.microsoft.com/office/drawing/2014/main" id="{2CCAC458-44BC-49EE-97E0-FD7E69431087}"/>
              </a:ext>
            </a:extLst>
          </p:cNvPr>
          <p:cNvSpPr/>
          <p:nvPr/>
        </p:nvSpPr>
        <p:spPr>
          <a:xfrm>
            <a:off x="6712652" y="1476065"/>
            <a:ext cx="5213286" cy="2585323"/>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Al ingresar al módulo de carreras, se mostrará una lista con las carreras cargadas en el sistema. Por defecto, esta lista visualizará únicamente las carreras que se encuentren activas en ese momento. Sin embargo, el usuario podrá optar por visualizar aquellas que estén en estado de borrador, inactivas o todas en conjunto. Se pueden cambiar estos filtros con los botones</a:t>
            </a:r>
            <a:r>
              <a:rPr lang="es-MX" dirty="0">
                <a:solidFill>
                  <a:srgbClr val="101716"/>
                </a:solidFill>
                <a:latin typeface="Tahoma" panose="020B0604030504040204" pitchFamily="34" charset="0"/>
                <a:ea typeface="Tahoma" panose="020B0604030504040204" pitchFamily="34" charset="0"/>
                <a:cs typeface="Tahoma" panose="020B0604030504040204" pitchFamily="34" charset="0"/>
              </a:rPr>
              <a:t> ubicados en la </a:t>
            </a:r>
            <a:r>
              <a:rPr lang="es-MX" dirty="0">
                <a:latin typeface="Tahoma" panose="020B0604030504040204" pitchFamily="34" charset="0"/>
                <a:ea typeface="Tahoma" panose="020B0604030504040204" pitchFamily="34" charset="0"/>
                <a:cs typeface="Tahoma" panose="020B0604030504040204" pitchFamily="34" charset="0"/>
              </a:rPr>
              <a:t>parte superior de la pantalla</a:t>
            </a:r>
            <a:r>
              <a:rPr lang="es-MX" dirty="0">
                <a:solidFill>
                  <a:srgbClr val="101716"/>
                </a:solidFill>
                <a:latin typeface="Tahoma" panose="020B0604030504040204" pitchFamily="34" charset="0"/>
                <a:ea typeface="Tahoma" panose="020B0604030504040204" pitchFamily="34" charset="0"/>
                <a:cs typeface="Tahoma" panose="020B0604030504040204" pitchFamily="34" charset="0"/>
              </a:rPr>
              <a:t>.</a:t>
            </a: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cxnSp>
        <p:nvCxnSpPr>
          <p:cNvPr id="7" name="Conector recto 6">
            <a:extLst>
              <a:ext uri="{FF2B5EF4-FFF2-40B4-BE49-F238E27FC236}">
                <a16:creationId xmlns:a16="http://schemas.microsoft.com/office/drawing/2014/main" id="{177C831D-F6F3-4DAF-80A3-020C0F1188EE}"/>
              </a:ext>
            </a:extLst>
          </p:cNvPr>
          <p:cNvCxnSpPr>
            <a:cxnSpLocks/>
          </p:cNvCxnSpPr>
          <p:nvPr/>
        </p:nvCxnSpPr>
        <p:spPr>
          <a:xfrm>
            <a:off x="8288397" y="3991145"/>
            <a:ext cx="2888589" cy="1268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AA145B35-1808-4CB6-915D-9E2F38B42F17}"/>
              </a:ext>
            </a:extLst>
          </p:cNvPr>
          <p:cNvCxnSpPr>
            <a:cxnSpLocks/>
          </p:cNvCxnSpPr>
          <p:nvPr/>
        </p:nvCxnSpPr>
        <p:spPr>
          <a:xfrm>
            <a:off x="1542848" y="2545565"/>
            <a:ext cx="64105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4FEE4EAC-6BA7-4EEE-B4F3-BBA916B67C56}"/>
              </a:ext>
            </a:extLst>
          </p:cNvPr>
          <p:cNvCxnSpPr>
            <a:cxnSpLocks/>
          </p:cNvCxnSpPr>
          <p:nvPr/>
        </p:nvCxnSpPr>
        <p:spPr>
          <a:xfrm>
            <a:off x="2867100" y="2545565"/>
            <a:ext cx="64105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24BD5CAC-F973-4A42-8D36-E2A23E86B8F5}"/>
              </a:ext>
            </a:extLst>
          </p:cNvPr>
          <p:cNvCxnSpPr>
            <a:cxnSpLocks/>
          </p:cNvCxnSpPr>
          <p:nvPr/>
        </p:nvCxnSpPr>
        <p:spPr>
          <a:xfrm>
            <a:off x="4129026" y="2544717"/>
            <a:ext cx="64105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2C02A29A-495A-4F90-8C56-02D4F18F7337}"/>
              </a:ext>
            </a:extLst>
          </p:cNvPr>
          <p:cNvCxnSpPr>
            <a:cxnSpLocks/>
          </p:cNvCxnSpPr>
          <p:nvPr/>
        </p:nvCxnSpPr>
        <p:spPr>
          <a:xfrm>
            <a:off x="5193050" y="2534993"/>
            <a:ext cx="64105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281144"/>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0" name="AutoShape 4" descr="Imagen generada: Avatar profesional con traje elegante">
            <a:extLst>
              <a:ext uri="{FF2B5EF4-FFF2-40B4-BE49-F238E27FC236}">
                <a16:creationId xmlns:a16="http://schemas.microsoft.com/office/drawing/2014/main" id="{96DF5861-3F12-471D-B486-2D0E10548896}"/>
              </a:ext>
            </a:extLst>
          </p:cNvPr>
          <p:cNvSpPr>
            <a:spLocks noChangeAspect="1" noChangeArrowheads="1"/>
          </p:cNvSpPr>
          <p:nvPr/>
        </p:nvSpPr>
        <p:spPr bwMode="auto">
          <a:xfrm>
            <a:off x="5100910" y="4661516"/>
            <a:ext cx="4696691" cy="46966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pic>
        <p:nvPicPr>
          <p:cNvPr id="16" name="Imagen 15">
            <a:extLst>
              <a:ext uri="{FF2B5EF4-FFF2-40B4-BE49-F238E27FC236}">
                <a16:creationId xmlns:a16="http://schemas.microsoft.com/office/drawing/2014/main" id="{D124592A-2FB6-4BC7-88B6-696AB3F9F891}"/>
              </a:ext>
            </a:extLst>
          </p:cNvPr>
          <p:cNvPicPr>
            <a:picLocks noChangeAspect="1"/>
          </p:cNvPicPr>
          <p:nvPr/>
        </p:nvPicPr>
        <p:blipFill rotWithShape="1">
          <a:blip r:embed="rId2">
            <a:extLst>
              <a:ext uri="{28A0092B-C50C-407E-A947-70E740481C1C}">
                <a14:useLocalDpi xmlns:a14="http://schemas.microsoft.com/office/drawing/2010/main" val="0"/>
              </a:ext>
            </a:extLst>
          </a:blip>
          <a:srcRect l="-151" t="-1" r="-1" b="-272"/>
          <a:stretch/>
        </p:blipFill>
        <p:spPr>
          <a:xfrm>
            <a:off x="88776" y="1489521"/>
            <a:ext cx="6136297" cy="3346882"/>
          </a:xfrm>
          <a:prstGeom prst="rect">
            <a:avLst/>
          </a:prstGeom>
        </p:spPr>
      </p:pic>
      <p:sp>
        <p:nvSpPr>
          <p:cNvPr id="17" name="Rectángulo 16">
            <a:extLst>
              <a:ext uri="{FF2B5EF4-FFF2-40B4-BE49-F238E27FC236}">
                <a16:creationId xmlns:a16="http://schemas.microsoft.com/office/drawing/2014/main" id="{4E2D570C-D100-464E-8387-89C6CC8416CE}"/>
              </a:ext>
            </a:extLst>
          </p:cNvPr>
          <p:cNvSpPr/>
          <p:nvPr/>
        </p:nvSpPr>
        <p:spPr>
          <a:xfrm>
            <a:off x="6225073" y="1421432"/>
            <a:ext cx="5213286" cy="1200329"/>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Al hacer clic derecho sobre cualquier carrera, se desplegará un menú con varias opciones. A continuación, se explicará qué función cumple cada apartado.</a:t>
            </a: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2" name="Rectángulo 21">
            <a:extLst>
              <a:ext uri="{FF2B5EF4-FFF2-40B4-BE49-F238E27FC236}">
                <a16:creationId xmlns:a16="http://schemas.microsoft.com/office/drawing/2014/main" id="{27D7C8F8-0333-45AA-A4B2-EF5171DA4770}"/>
              </a:ext>
            </a:extLst>
          </p:cNvPr>
          <p:cNvSpPr/>
          <p:nvPr/>
        </p:nvSpPr>
        <p:spPr>
          <a:xfrm>
            <a:off x="4449556" y="722423"/>
            <a:ext cx="3292889" cy="584775"/>
          </a:xfrm>
          <a:prstGeom prst="rect">
            <a:avLst/>
          </a:prstGeom>
          <a:noFill/>
        </p:spPr>
        <p:txBody>
          <a:bodyPr wrap="none" lIns="91440" tIns="45720" rIns="91440" bIns="45720">
            <a:spAutoFit/>
          </a:bodyPr>
          <a:lstStyle/>
          <a:p>
            <a:pPr algn="ctr"/>
            <a:r>
              <a:rPr lang="es-ES" sz="32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Módulo Carreras</a:t>
            </a:r>
            <a:endPar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sp>
        <p:nvSpPr>
          <p:cNvPr id="23" name="Flecha: a la derecha 22">
            <a:hlinkClick r:id="rId3" action="ppaction://hlinksldjump"/>
            <a:extLst>
              <a:ext uri="{FF2B5EF4-FFF2-40B4-BE49-F238E27FC236}">
                <a16:creationId xmlns:a16="http://schemas.microsoft.com/office/drawing/2014/main" id="{D788AB47-6450-4AB9-A992-E5F25A71D62B}"/>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4" name="Rectángulo 23">
            <a:hlinkClick r:id="rId3" action="ppaction://hlinksldjump"/>
            <a:extLst>
              <a:ext uri="{FF2B5EF4-FFF2-40B4-BE49-F238E27FC236}">
                <a16:creationId xmlns:a16="http://schemas.microsoft.com/office/drawing/2014/main" id="{8967CCB5-0B3E-4EFC-82AD-658C97046968}"/>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2754010509"/>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0" name="AutoShape 4" descr="Imagen generada: Avatar profesional con traje elegante">
            <a:extLst>
              <a:ext uri="{FF2B5EF4-FFF2-40B4-BE49-F238E27FC236}">
                <a16:creationId xmlns:a16="http://schemas.microsoft.com/office/drawing/2014/main" id="{96DF5861-3F12-471D-B486-2D0E10548896}"/>
              </a:ext>
            </a:extLst>
          </p:cNvPr>
          <p:cNvSpPr>
            <a:spLocks noChangeAspect="1" noChangeArrowheads="1"/>
          </p:cNvSpPr>
          <p:nvPr/>
        </p:nvSpPr>
        <p:spPr bwMode="auto">
          <a:xfrm>
            <a:off x="5100910" y="4661516"/>
            <a:ext cx="4696691" cy="46966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7" name="Rectángulo 16">
            <a:extLst>
              <a:ext uri="{FF2B5EF4-FFF2-40B4-BE49-F238E27FC236}">
                <a16:creationId xmlns:a16="http://schemas.microsoft.com/office/drawing/2014/main" id="{4E2D570C-D100-464E-8387-89C6CC8416CE}"/>
              </a:ext>
            </a:extLst>
          </p:cNvPr>
          <p:cNvSpPr/>
          <p:nvPr/>
        </p:nvSpPr>
        <p:spPr>
          <a:xfrm>
            <a:off x="6520023" y="1347311"/>
            <a:ext cx="5213286" cy="1200329"/>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Desde esta pantalla es posible agregar nuevas carreras. Para ello, se deben completar todos los campos requeridos con la información correspondiente.</a:t>
            </a: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2" name="Rectángulo 21">
            <a:extLst>
              <a:ext uri="{FF2B5EF4-FFF2-40B4-BE49-F238E27FC236}">
                <a16:creationId xmlns:a16="http://schemas.microsoft.com/office/drawing/2014/main" id="{27D7C8F8-0333-45AA-A4B2-EF5171DA4770}"/>
              </a:ext>
            </a:extLst>
          </p:cNvPr>
          <p:cNvSpPr/>
          <p:nvPr/>
        </p:nvSpPr>
        <p:spPr>
          <a:xfrm>
            <a:off x="2761694" y="722423"/>
            <a:ext cx="6668621" cy="584775"/>
          </a:xfrm>
          <a:prstGeom prst="rect">
            <a:avLst/>
          </a:prstGeom>
          <a:noFill/>
        </p:spPr>
        <p:txBody>
          <a:bodyPr wrap="none" lIns="91440" tIns="45720" rIns="91440" bIns="45720">
            <a:spAutoFit/>
          </a:bodyPr>
          <a:lstStyle/>
          <a:p>
            <a:pPr algn="ctr"/>
            <a:r>
              <a:rPr lang="es-ES" sz="32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Módulo Carreras: Pantalla agregar</a:t>
            </a:r>
            <a:endPar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pic>
        <p:nvPicPr>
          <p:cNvPr id="3" name="Imagen 2">
            <a:extLst>
              <a:ext uri="{FF2B5EF4-FFF2-40B4-BE49-F238E27FC236}">
                <a16:creationId xmlns:a16="http://schemas.microsoft.com/office/drawing/2014/main" id="{CAA6AF95-5ABF-4BAF-BEDD-DF04AE8C5D49}"/>
              </a:ext>
            </a:extLst>
          </p:cNvPr>
          <p:cNvPicPr>
            <a:picLocks noChangeAspect="1"/>
          </p:cNvPicPr>
          <p:nvPr/>
        </p:nvPicPr>
        <p:blipFill>
          <a:blip r:embed="rId2"/>
          <a:stretch>
            <a:fillRect/>
          </a:stretch>
        </p:blipFill>
        <p:spPr>
          <a:xfrm>
            <a:off x="112531" y="1505915"/>
            <a:ext cx="6151185" cy="4058383"/>
          </a:xfrm>
          <a:prstGeom prst="rect">
            <a:avLst/>
          </a:prstGeom>
        </p:spPr>
      </p:pic>
      <p:cxnSp>
        <p:nvCxnSpPr>
          <p:cNvPr id="5" name="Conector recto 4">
            <a:extLst>
              <a:ext uri="{FF2B5EF4-FFF2-40B4-BE49-F238E27FC236}">
                <a16:creationId xmlns:a16="http://schemas.microsoft.com/office/drawing/2014/main" id="{7F576BCD-C036-47F8-B12A-0909FDC6FE0C}"/>
              </a:ext>
            </a:extLst>
          </p:cNvPr>
          <p:cNvCxnSpPr>
            <a:cxnSpLocks/>
          </p:cNvCxnSpPr>
          <p:nvPr/>
        </p:nvCxnSpPr>
        <p:spPr>
          <a:xfrm>
            <a:off x="3915052" y="3322469"/>
            <a:ext cx="22638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F36CC0C6-E5F9-47E4-BAF1-0D9427A69440}"/>
              </a:ext>
            </a:extLst>
          </p:cNvPr>
          <p:cNvCxnSpPr>
            <a:cxnSpLocks/>
          </p:cNvCxnSpPr>
          <p:nvPr/>
        </p:nvCxnSpPr>
        <p:spPr>
          <a:xfrm>
            <a:off x="3915052" y="3732321"/>
            <a:ext cx="22638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FFCB8373-24FD-4A49-A5B9-9F63C8FBC21D}"/>
              </a:ext>
            </a:extLst>
          </p:cNvPr>
          <p:cNvCxnSpPr>
            <a:cxnSpLocks/>
          </p:cNvCxnSpPr>
          <p:nvPr/>
        </p:nvCxnSpPr>
        <p:spPr>
          <a:xfrm>
            <a:off x="1537316" y="4105183"/>
            <a:ext cx="22638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Rectángulo 18">
            <a:extLst>
              <a:ext uri="{FF2B5EF4-FFF2-40B4-BE49-F238E27FC236}">
                <a16:creationId xmlns:a16="http://schemas.microsoft.com/office/drawing/2014/main" id="{7E54E125-E487-408F-AB7C-8120B03D6CE2}"/>
              </a:ext>
            </a:extLst>
          </p:cNvPr>
          <p:cNvSpPr/>
          <p:nvPr/>
        </p:nvSpPr>
        <p:spPr>
          <a:xfrm>
            <a:off x="6530701" y="2555157"/>
            <a:ext cx="5213286" cy="646331"/>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En estos campos se debe cargar un archivo PDF(Campo opcional)</a:t>
            </a: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cxnSp>
        <p:nvCxnSpPr>
          <p:cNvPr id="20" name="Conector recto de flecha 19">
            <a:extLst>
              <a:ext uri="{FF2B5EF4-FFF2-40B4-BE49-F238E27FC236}">
                <a16:creationId xmlns:a16="http://schemas.microsoft.com/office/drawing/2014/main" id="{B4224625-523C-4F02-A868-A166D470BF4A}"/>
              </a:ext>
            </a:extLst>
          </p:cNvPr>
          <p:cNvCxnSpPr>
            <a:cxnSpLocks/>
            <a:endCxn id="19" idx="1"/>
          </p:cNvCxnSpPr>
          <p:nvPr/>
        </p:nvCxnSpPr>
        <p:spPr>
          <a:xfrm flipV="1">
            <a:off x="6156960" y="2878323"/>
            <a:ext cx="373741" cy="44414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CEF65D30-B837-42E0-8EE6-C1AB440AADA8}"/>
              </a:ext>
            </a:extLst>
          </p:cNvPr>
          <p:cNvCxnSpPr>
            <a:cxnSpLocks/>
            <a:endCxn id="19" idx="1"/>
          </p:cNvCxnSpPr>
          <p:nvPr/>
        </p:nvCxnSpPr>
        <p:spPr>
          <a:xfrm flipV="1">
            <a:off x="6156960" y="2878323"/>
            <a:ext cx="373741" cy="8607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6092242C-5591-4223-A573-8E23213225F0}"/>
              </a:ext>
            </a:extLst>
          </p:cNvPr>
          <p:cNvCxnSpPr>
            <a:cxnSpLocks/>
            <a:endCxn id="19" idx="1"/>
          </p:cNvCxnSpPr>
          <p:nvPr/>
        </p:nvCxnSpPr>
        <p:spPr>
          <a:xfrm flipV="1">
            <a:off x="6309247" y="2878323"/>
            <a:ext cx="221454" cy="12268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E67B4E37-CE9D-4549-935A-95E0FC184A85}"/>
              </a:ext>
            </a:extLst>
          </p:cNvPr>
          <p:cNvCxnSpPr>
            <a:cxnSpLocks/>
          </p:cNvCxnSpPr>
          <p:nvPr/>
        </p:nvCxnSpPr>
        <p:spPr>
          <a:xfrm>
            <a:off x="3801122" y="4105183"/>
            <a:ext cx="253244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07C86980-6E5D-4FB7-9A3B-8710F2F1445C}"/>
              </a:ext>
            </a:extLst>
          </p:cNvPr>
          <p:cNvCxnSpPr>
            <a:cxnSpLocks/>
          </p:cNvCxnSpPr>
          <p:nvPr/>
        </p:nvCxnSpPr>
        <p:spPr>
          <a:xfrm flipV="1">
            <a:off x="1537316" y="3719772"/>
            <a:ext cx="2146917" cy="1254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1" name="Rectángulo 40">
            <a:extLst>
              <a:ext uri="{FF2B5EF4-FFF2-40B4-BE49-F238E27FC236}">
                <a16:creationId xmlns:a16="http://schemas.microsoft.com/office/drawing/2014/main" id="{E3551C88-1CC3-4C11-BBB7-374A871A8517}"/>
              </a:ext>
            </a:extLst>
          </p:cNvPr>
          <p:cNvSpPr/>
          <p:nvPr/>
        </p:nvSpPr>
        <p:spPr>
          <a:xfrm>
            <a:off x="6809846" y="3272292"/>
            <a:ext cx="5213286" cy="646331"/>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En este campo se debe cargar una imagen PNG(Campo opcional)</a:t>
            </a:r>
          </a:p>
        </p:txBody>
      </p:sp>
      <p:cxnSp>
        <p:nvCxnSpPr>
          <p:cNvPr id="43" name="Conector recto de flecha 42">
            <a:extLst>
              <a:ext uri="{FF2B5EF4-FFF2-40B4-BE49-F238E27FC236}">
                <a16:creationId xmlns:a16="http://schemas.microsoft.com/office/drawing/2014/main" id="{D69CEC20-4B7D-4CC2-8C1D-4D0A800B55C6}"/>
              </a:ext>
            </a:extLst>
          </p:cNvPr>
          <p:cNvCxnSpPr>
            <a:cxnSpLocks/>
            <a:endCxn id="41" idx="1"/>
          </p:cNvCxnSpPr>
          <p:nvPr/>
        </p:nvCxnSpPr>
        <p:spPr>
          <a:xfrm flipV="1">
            <a:off x="3649980" y="3595458"/>
            <a:ext cx="3159866" cy="12920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9" name="Rectángulo 48">
            <a:extLst>
              <a:ext uri="{FF2B5EF4-FFF2-40B4-BE49-F238E27FC236}">
                <a16:creationId xmlns:a16="http://schemas.microsoft.com/office/drawing/2014/main" id="{01C6A266-5346-4663-BF4C-5A03CDF253D0}"/>
              </a:ext>
            </a:extLst>
          </p:cNvPr>
          <p:cNvSpPr/>
          <p:nvPr/>
        </p:nvSpPr>
        <p:spPr>
          <a:xfrm>
            <a:off x="6418423" y="4122326"/>
            <a:ext cx="5213286" cy="1477328"/>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Una vez completados los datos, presione el botón “Guardar” para crear la carrera. En caso de que exista información incorrecta o falten campos obligatorios, el sistema mostrará un error y no se creará la carrera.</a:t>
            </a: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58" name="Elipse 57">
            <a:extLst>
              <a:ext uri="{FF2B5EF4-FFF2-40B4-BE49-F238E27FC236}">
                <a16:creationId xmlns:a16="http://schemas.microsoft.com/office/drawing/2014/main" id="{E6A97616-6E2F-4ADB-A202-56ED695FFFB4}"/>
              </a:ext>
            </a:extLst>
          </p:cNvPr>
          <p:cNvSpPr/>
          <p:nvPr/>
        </p:nvSpPr>
        <p:spPr>
          <a:xfrm>
            <a:off x="5067343" y="4978565"/>
            <a:ext cx="1111515" cy="5383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59" name="Conector recto de flecha 58">
            <a:extLst>
              <a:ext uri="{FF2B5EF4-FFF2-40B4-BE49-F238E27FC236}">
                <a16:creationId xmlns:a16="http://schemas.microsoft.com/office/drawing/2014/main" id="{E7B4C44A-1FD3-4E47-973B-622F0C835D05}"/>
              </a:ext>
            </a:extLst>
          </p:cNvPr>
          <p:cNvCxnSpPr>
            <a:cxnSpLocks/>
            <a:stCxn id="58" idx="7"/>
          </p:cNvCxnSpPr>
          <p:nvPr/>
        </p:nvCxnSpPr>
        <p:spPr>
          <a:xfrm flipV="1">
            <a:off x="6016080" y="4598046"/>
            <a:ext cx="451776" cy="4593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15744A90-FDF7-43D6-9E02-2BD15D61708F}"/>
              </a:ext>
            </a:extLst>
          </p:cNvPr>
          <p:cNvCxnSpPr>
            <a:cxnSpLocks/>
          </p:cNvCxnSpPr>
          <p:nvPr/>
        </p:nvCxnSpPr>
        <p:spPr>
          <a:xfrm>
            <a:off x="6530701" y="4730645"/>
            <a:ext cx="91855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5" name="Flecha: a la derecha 64">
            <a:hlinkClick r:id="rId3" action="ppaction://hlinksldjump"/>
            <a:extLst>
              <a:ext uri="{FF2B5EF4-FFF2-40B4-BE49-F238E27FC236}">
                <a16:creationId xmlns:a16="http://schemas.microsoft.com/office/drawing/2014/main" id="{86F29BC9-523F-468F-AC6F-CCE9339124C5}"/>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66" name="Rectángulo 65">
            <a:hlinkClick r:id="rId3" action="ppaction://hlinksldjump"/>
            <a:extLst>
              <a:ext uri="{FF2B5EF4-FFF2-40B4-BE49-F238E27FC236}">
                <a16:creationId xmlns:a16="http://schemas.microsoft.com/office/drawing/2014/main" id="{8188EACC-DA82-4237-8416-F72E88585C27}"/>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2605546541"/>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0" name="AutoShape 4" descr="Imagen generada: Avatar profesional con traje elegante">
            <a:extLst>
              <a:ext uri="{FF2B5EF4-FFF2-40B4-BE49-F238E27FC236}">
                <a16:creationId xmlns:a16="http://schemas.microsoft.com/office/drawing/2014/main" id="{96DF5861-3F12-471D-B486-2D0E10548896}"/>
              </a:ext>
            </a:extLst>
          </p:cNvPr>
          <p:cNvSpPr>
            <a:spLocks noChangeAspect="1" noChangeArrowheads="1"/>
          </p:cNvSpPr>
          <p:nvPr/>
        </p:nvSpPr>
        <p:spPr bwMode="auto">
          <a:xfrm>
            <a:off x="5100910" y="4661516"/>
            <a:ext cx="4696691" cy="46966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7" name="Rectángulo 16">
            <a:extLst>
              <a:ext uri="{FF2B5EF4-FFF2-40B4-BE49-F238E27FC236}">
                <a16:creationId xmlns:a16="http://schemas.microsoft.com/office/drawing/2014/main" id="{4E2D570C-D100-464E-8387-89C6CC8416CE}"/>
              </a:ext>
            </a:extLst>
          </p:cNvPr>
          <p:cNvSpPr/>
          <p:nvPr/>
        </p:nvSpPr>
        <p:spPr>
          <a:xfrm>
            <a:off x="6365157" y="1574261"/>
            <a:ext cx="5213286" cy="923330"/>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Esta pantalla permite visualizar de forma clara los datos de cada carrera. No es posible interactuar con ella.</a:t>
            </a: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2" name="Rectángulo 21">
            <a:extLst>
              <a:ext uri="{FF2B5EF4-FFF2-40B4-BE49-F238E27FC236}">
                <a16:creationId xmlns:a16="http://schemas.microsoft.com/office/drawing/2014/main" id="{27D7C8F8-0333-45AA-A4B2-EF5171DA4770}"/>
              </a:ext>
            </a:extLst>
          </p:cNvPr>
          <p:cNvSpPr/>
          <p:nvPr/>
        </p:nvSpPr>
        <p:spPr>
          <a:xfrm>
            <a:off x="3414918" y="722423"/>
            <a:ext cx="5362174" cy="584775"/>
          </a:xfrm>
          <a:prstGeom prst="rect">
            <a:avLst/>
          </a:prstGeom>
          <a:noFill/>
        </p:spPr>
        <p:txBody>
          <a:bodyPr wrap="none" lIns="91440" tIns="45720" rIns="91440" bIns="45720">
            <a:spAutoFit/>
          </a:bodyPr>
          <a:lstStyle/>
          <a:p>
            <a:pPr algn="ctr"/>
            <a:r>
              <a:rPr lang="es-ES" sz="32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Módulo Carreras: Ver datos</a:t>
            </a:r>
            <a:endPar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pic>
        <p:nvPicPr>
          <p:cNvPr id="25" name="Imagen 24">
            <a:extLst>
              <a:ext uri="{FF2B5EF4-FFF2-40B4-BE49-F238E27FC236}">
                <a16:creationId xmlns:a16="http://schemas.microsoft.com/office/drawing/2014/main" id="{2C6C1C4D-3275-4F83-B063-A750C40BDD5E}"/>
              </a:ext>
            </a:extLst>
          </p:cNvPr>
          <p:cNvPicPr>
            <a:picLocks noChangeAspect="1"/>
          </p:cNvPicPr>
          <p:nvPr/>
        </p:nvPicPr>
        <p:blipFill rotWithShape="1">
          <a:blip r:embed="rId2"/>
          <a:srcRect b="1162"/>
          <a:stretch/>
        </p:blipFill>
        <p:spPr>
          <a:xfrm>
            <a:off x="123148" y="1574261"/>
            <a:ext cx="6120997" cy="3999675"/>
          </a:xfrm>
          <a:prstGeom prst="rect">
            <a:avLst/>
          </a:prstGeom>
        </p:spPr>
      </p:pic>
      <p:sp>
        <p:nvSpPr>
          <p:cNvPr id="26" name="Flecha: a la derecha 25">
            <a:hlinkClick r:id="rId3" action="ppaction://hlinksldjump"/>
            <a:extLst>
              <a:ext uri="{FF2B5EF4-FFF2-40B4-BE49-F238E27FC236}">
                <a16:creationId xmlns:a16="http://schemas.microsoft.com/office/drawing/2014/main" id="{BA1DEDC7-8680-4613-AD32-E6DA5C960B05}"/>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7" name="Rectángulo 26">
            <a:hlinkClick r:id="rId3" action="ppaction://hlinksldjump"/>
            <a:extLst>
              <a:ext uri="{FF2B5EF4-FFF2-40B4-BE49-F238E27FC236}">
                <a16:creationId xmlns:a16="http://schemas.microsoft.com/office/drawing/2014/main" id="{C97E57F5-34AA-48B9-8ADC-2636F5FA99F0}"/>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336246880"/>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0" name="AutoShape 4" descr="Imagen generada: Avatar profesional con traje elegante">
            <a:extLst>
              <a:ext uri="{FF2B5EF4-FFF2-40B4-BE49-F238E27FC236}">
                <a16:creationId xmlns:a16="http://schemas.microsoft.com/office/drawing/2014/main" id="{96DF5861-3F12-471D-B486-2D0E10548896}"/>
              </a:ext>
            </a:extLst>
          </p:cNvPr>
          <p:cNvSpPr>
            <a:spLocks noChangeAspect="1" noChangeArrowheads="1"/>
          </p:cNvSpPr>
          <p:nvPr/>
        </p:nvSpPr>
        <p:spPr bwMode="auto">
          <a:xfrm>
            <a:off x="5100910" y="4661516"/>
            <a:ext cx="4696691" cy="46966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7" name="Rectángulo 16">
            <a:extLst>
              <a:ext uri="{FF2B5EF4-FFF2-40B4-BE49-F238E27FC236}">
                <a16:creationId xmlns:a16="http://schemas.microsoft.com/office/drawing/2014/main" id="{4E2D570C-D100-464E-8387-89C6CC8416CE}"/>
              </a:ext>
            </a:extLst>
          </p:cNvPr>
          <p:cNvSpPr/>
          <p:nvPr/>
        </p:nvSpPr>
        <p:spPr>
          <a:xfrm>
            <a:off x="613557" y="4931935"/>
            <a:ext cx="5213286" cy="1200329"/>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En esta pantalla se muestra la cantidad de años que conforman el plan de estudios de cada carrera, así como la cantidad de materias y las horas anuales correspondientes.</a:t>
            </a: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2" name="Rectángulo 21">
            <a:extLst>
              <a:ext uri="{FF2B5EF4-FFF2-40B4-BE49-F238E27FC236}">
                <a16:creationId xmlns:a16="http://schemas.microsoft.com/office/drawing/2014/main" id="{27D7C8F8-0333-45AA-A4B2-EF5171DA4770}"/>
              </a:ext>
            </a:extLst>
          </p:cNvPr>
          <p:cNvSpPr/>
          <p:nvPr/>
        </p:nvSpPr>
        <p:spPr>
          <a:xfrm>
            <a:off x="3485547" y="722423"/>
            <a:ext cx="5220917" cy="584775"/>
          </a:xfrm>
          <a:prstGeom prst="rect">
            <a:avLst/>
          </a:prstGeom>
          <a:noFill/>
        </p:spPr>
        <p:txBody>
          <a:bodyPr wrap="none" lIns="91440" tIns="45720" rIns="91440" bIns="45720">
            <a:spAutoFit/>
          </a:bodyPr>
          <a:lstStyle/>
          <a:p>
            <a:pPr algn="ctr"/>
            <a:r>
              <a:rPr lang="es-ES" sz="32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Módulo Carreras: Ver Años</a:t>
            </a:r>
            <a:endPar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pic>
        <p:nvPicPr>
          <p:cNvPr id="3" name="Imagen 2">
            <a:extLst>
              <a:ext uri="{FF2B5EF4-FFF2-40B4-BE49-F238E27FC236}">
                <a16:creationId xmlns:a16="http://schemas.microsoft.com/office/drawing/2014/main" id="{B1F57DCB-7C28-4AFD-8F55-DFE9D79149AB}"/>
              </a:ext>
            </a:extLst>
          </p:cNvPr>
          <p:cNvPicPr>
            <a:picLocks noChangeAspect="1"/>
          </p:cNvPicPr>
          <p:nvPr/>
        </p:nvPicPr>
        <p:blipFill rotWithShape="1">
          <a:blip r:embed="rId2"/>
          <a:srcRect b="10250"/>
          <a:stretch/>
        </p:blipFill>
        <p:spPr>
          <a:xfrm>
            <a:off x="613557" y="1397087"/>
            <a:ext cx="4995850" cy="3479016"/>
          </a:xfrm>
          <a:prstGeom prst="rect">
            <a:avLst/>
          </a:prstGeom>
        </p:spPr>
      </p:pic>
      <p:pic>
        <p:nvPicPr>
          <p:cNvPr id="5" name="Imagen 4">
            <a:extLst>
              <a:ext uri="{FF2B5EF4-FFF2-40B4-BE49-F238E27FC236}">
                <a16:creationId xmlns:a16="http://schemas.microsoft.com/office/drawing/2014/main" id="{2644CA44-EB3B-4F4D-B3A7-D0A493B46ECA}"/>
              </a:ext>
            </a:extLst>
          </p:cNvPr>
          <p:cNvPicPr>
            <a:picLocks noChangeAspect="1"/>
          </p:cNvPicPr>
          <p:nvPr/>
        </p:nvPicPr>
        <p:blipFill rotWithShape="1">
          <a:blip r:embed="rId3"/>
          <a:srcRect l="39830" t="26408" r="20340" b="24956"/>
          <a:stretch/>
        </p:blipFill>
        <p:spPr>
          <a:xfrm>
            <a:off x="5950513" y="1411357"/>
            <a:ext cx="5044287" cy="3464746"/>
          </a:xfrm>
          <a:prstGeom prst="rect">
            <a:avLst/>
          </a:prstGeom>
        </p:spPr>
      </p:pic>
      <p:sp>
        <p:nvSpPr>
          <p:cNvPr id="12" name="Rectángulo 11">
            <a:extLst>
              <a:ext uri="{FF2B5EF4-FFF2-40B4-BE49-F238E27FC236}">
                <a16:creationId xmlns:a16="http://schemas.microsoft.com/office/drawing/2014/main" id="{D54AD44D-1071-42AF-B01A-84FC1F2222C3}"/>
              </a:ext>
            </a:extLst>
          </p:cNvPr>
          <p:cNvSpPr/>
          <p:nvPr/>
        </p:nvSpPr>
        <p:spPr>
          <a:xfrm>
            <a:off x="5866013" y="4876103"/>
            <a:ext cx="5213286" cy="923330"/>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Al hacer clic derecho sobre un año, se desplegará un menú contextual con diversas opciones. A continuación, se describe la función de cada una.</a:t>
            </a: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3" name="Flecha: a la derecha 12">
            <a:hlinkClick r:id="rId4" action="ppaction://hlinksldjump"/>
            <a:extLst>
              <a:ext uri="{FF2B5EF4-FFF2-40B4-BE49-F238E27FC236}">
                <a16:creationId xmlns:a16="http://schemas.microsoft.com/office/drawing/2014/main" id="{28114FC6-7A3D-4513-9246-55E9B18C391E}"/>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Rectángulo 13">
            <a:hlinkClick r:id="rId4" action="ppaction://hlinksldjump"/>
            <a:extLst>
              <a:ext uri="{FF2B5EF4-FFF2-40B4-BE49-F238E27FC236}">
                <a16:creationId xmlns:a16="http://schemas.microsoft.com/office/drawing/2014/main" id="{F4248163-47C1-4959-B747-959D1CAB0BFD}"/>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1589036638"/>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0" name="AutoShape 4" descr="Imagen generada: Avatar profesional con traje elegante">
            <a:extLst>
              <a:ext uri="{FF2B5EF4-FFF2-40B4-BE49-F238E27FC236}">
                <a16:creationId xmlns:a16="http://schemas.microsoft.com/office/drawing/2014/main" id="{96DF5861-3F12-471D-B486-2D0E10548896}"/>
              </a:ext>
            </a:extLst>
          </p:cNvPr>
          <p:cNvSpPr>
            <a:spLocks noChangeAspect="1" noChangeArrowheads="1"/>
          </p:cNvSpPr>
          <p:nvPr/>
        </p:nvSpPr>
        <p:spPr bwMode="auto">
          <a:xfrm>
            <a:off x="5100910" y="4661516"/>
            <a:ext cx="4696691" cy="46966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7" name="Rectángulo 16">
            <a:extLst>
              <a:ext uri="{FF2B5EF4-FFF2-40B4-BE49-F238E27FC236}">
                <a16:creationId xmlns:a16="http://schemas.microsoft.com/office/drawing/2014/main" id="{4E2D570C-D100-464E-8387-89C6CC8416CE}"/>
              </a:ext>
            </a:extLst>
          </p:cNvPr>
          <p:cNvSpPr/>
          <p:nvPr/>
        </p:nvSpPr>
        <p:spPr>
          <a:xfrm>
            <a:off x="5806993" y="1674674"/>
            <a:ext cx="5213286" cy="1754326"/>
          </a:xfrm>
          <a:prstGeom prst="rect">
            <a:avLst/>
          </a:prstGeom>
          <a:noFill/>
        </p:spPr>
        <p:txBody>
          <a:bodyPr wrap="square" lIns="91440" tIns="45720" rIns="91440" bIns="45720">
            <a:spAutoFit/>
          </a:bodyPr>
          <a:lstStyle/>
          <a:p>
            <a:r>
              <a:rPr lang="es-MX" sz="1800" b="0" i="0" u="none" strike="noStrike" baseline="0" dirty="0">
                <a:solidFill>
                  <a:srgbClr val="101716"/>
                </a:solidFill>
                <a:latin typeface="Tahoma" panose="020B0604030504040204" pitchFamily="34" charset="0"/>
                <a:ea typeface="Tahoma" panose="020B0604030504040204" pitchFamily="34" charset="0"/>
                <a:cs typeface="Tahoma" panose="020B0604030504040204" pitchFamily="34" charset="0"/>
              </a:rPr>
              <a:t>Al seleccionar la opción “Ver materias”, se desplegará una lista con las materias correspondientes al año seleccionado. A su vez, al hacer clic derecho sobre una materia, se podrá acceder a información más específica de la misma.</a:t>
            </a:r>
            <a:endParaRPr lang="es-ES"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endParaRPr>
          </a:p>
        </p:txBody>
      </p:sp>
      <p:pic>
        <p:nvPicPr>
          <p:cNvPr id="4" name="Imagen 3">
            <a:extLst>
              <a:ext uri="{FF2B5EF4-FFF2-40B4-BE49-F238E27FC236}">
                <a16:creationId xmlns:a16="http://schemas.microsoft.com/office/drawing/2014/main" id="{11951D11-2EC5-4A51-9FD3-2C502576F2FB}"/>
              </a:ext>
            </a:extLst>
          </p:cNvPr>
          <p:cNvPicPr>
            <a:picLocks noChangeAspect="1"/>
          </p:cNvPicPr>
          <p:nvPr/>
        </p:nvPicPr>
        <p:blipFill>
          <a:blip r:embed="rId2"/>
          <a:stretch>
            <a:fillRect/>
          </a:stretch>
        </p:blipFill>
        <p:spPr>
          <a:xfrm>
            <a:off x="174296" y="1731688"/>
            <a:ext cx="5526165" cy="3987142"/>
          </a:xfrm>
          <a:prstGeom prst="rect">
            <a:avLst/>
          </a:prstGeom>
        </p:spPr>
      </p:pic>
      <p:sp>
        <p:nvSpPr>
          <p:cNvPr id="13" name="Flecha: a la derecha 12">
            <a:hlinkClick r:id="rId3" action="ppaction://hlinksldjump"/>
            <a:extLst>
              <a:ext uri="{FF2B5EF4-FFF2-40B4-BE49-F238E27FC236}">
                <a16:creationId xmlns:a16="http://schemas.microsoft.com/office/drawing/2014/main" id="{0410C095-9E4B-4F6B-923D-B567CF97755E}"/>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Rectángulo 13">
            <a:hlinkClick r:id="rId3" action="ppaction://hlinksldjump"/>
            <a:extLst>
              <a:ext uri="{FF2B5EF4-FFF2-40B4-BE49-F238E27FC236}">
                <a16:creationId xmlns:a16="http://schemas.microsoft.com/office/drawing/2014/main" id="{63479A7D-C1EA-48A0-B740-3DD3B1A949D6}"/>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1739116093"/>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0" name="AutoShape 4" descr="Imagen generada: Avatar profesional con traje elegante">
            <a:extLst>
              <a:ext uri="{FF2B5EF4-FFF2-40B4-BE49-F238E27FC236}">
                <a16:creationId xmlns:a16="http://schemas.microsoft.com/office/drawing/2014/main" id="{96DF5861-3F12-471D-B486-2D0E10548896}"/>
              </a:ext>
            </a:extLst>
          </p:cNvPr>
          <p:cNvSpPr>
            <a:spLocks noChangeAspect="1" noChangeArrowheads="1"/>
          </p:cNvSpPr>
          <p:nvPr/>
        </p:nvSpPr>
        <p:spPr bwMode="auto">
          <a:xfrm>
            <a:off x="5100910" y="4661516"/>
            <a:ext cx="4696691" cy="46966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7" name="Rectángulo 16">
            <a:extLst>
              <a:ext uri="{FF2B5EF4-FFF2-40B4-BE49-F238E27FC236}">
                <a16:creationId xmlns:a16="http://schemas.microsoft.com/office/drawing/2014/main" id="{4E2D570C-D100-464E-8387-89C6CC8416CE}"/>
              </a:ext>
            </a:extLst>
          </p:cNvPr>
          <p:cNvSpPr/>
          <p:nvPr/>
        </p:nvSpPr>
        <p:spPr>
          <a:xfrm>
            <a:off x="5781515" y="1865050"/>
            <a:ext cx="5213286" cy="3416320"/>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Al seleccionar la opción “Asignar cursos”, se desplegará una lista con los cursos creados para el año correspondiente. A su vez, al hacer clic derecho sobre un curso, se desplegará un menú que permitirá realizar las siguientes acciones:</a:t>
            </a:r>
          </a:p>
          <a:p>
            <a:r>
              <a:rPr lang="es-MX" dirty="0">
                <a:latin typeface="Tahoma" panose="020B0604030504040204" pitchFamily="34" charset="0"/>
                <a:ea typeface="Tahoma" panose="020B0604030504040204" pitchFamily="34" charset="0"/>
                <a:cs typeface="Tahoma" panose="020B0604030504040204" pitchFamily="34" charset="0"/>
              </a:rPr>
              <a:t>° Visualizar cursos activos e inactivos</a:t>
            </a:r>
            <a:br>
              <a:rPr lang="es-MX" dirty="0">
                <a:latin typeface="Tahoma" panose="020B0604030504040204" pitchFamily="34" charset="0"/>
                <a:ea typeface="Tahoma" panose="020B0604030504040204" pitchFamily="34" charset="0"/>
                <a:cs typeface="Tahoma" panose="020B0604030504040204" pitchFamily="34" charset="0"/>
              </a:rPr>
            </a:br>
            <a:r>
              <a:rPr lang="es-MX" dirty="0">
                <a:latin typeface="Tahoma" panose="020B0604030504040204" pitchFamily="34" charset="0"/>
                <a:ea typeface="Tahoma" panose="020B0604030504040204" pitchFamily="34" charset="0"/>
                <a:cs typeface="Tahoma" panose="020B0604030504040204" pitchFamily="34" charset="0"/>
              </a:rPr>
              <a:t>° Crear nuevos cursos</a:t>
            </a:r>
            <a:br>
              <a:rPr lang="es-MX" dirty="0">
                <a:latin typeface="Tahoma" panose="020B0604030504040204" pitchFamily="34" charset="0"/>
                <a:ea typeface="Tahoma" panose="020B0604030504040204" pitchFamily="34" charset="0"/>
                <a:cs typeface="Tahoma" panose="020B0604030504040204" pitchFamily="34" charset="0"/>
              </a:rPr>
            </a:br>
            <a:r>
              <a:rPr lang="es-MX" dirty="0">
                <a:latin typeface="Tahoma" panose="020B0604030504040204" pitchFamily="34" charset="0"/>
                <a:ea typeface="Tahoma" panose="020B0604030504040204" pitchFamily="34" charset="0"/>
                <a:cs typeface="Tahoma" panose="020B0604030504040204" pitchFamily="34" charset="0"/>
              </a:rPr>
              <a:t>° Desactivar cursos vigentes</a:t>
            </a:r>
            <a:br>
              <a:rPr lang="es-MX" dirty="0">
                <a:latin typeface="Tahoma" panose="020B0604030504040204" pitchFamily="34" charset="0"/>
                <a:ea typeface="Tahoma" panose="020B0604030504040204" pitchFamily="34" charset="0"/>
                <a:cs typeface="Tahoma" panose="020B0604030504040204" pitchFamily="34" charset="0"/>
              </a:rPr>
            </a:br>
            <a:r>
              <a:rPr lang="es-MX" dirty="0">
                <a:latin typeface="Tahoma" panose="020B0604030504040204" pitchFamily="34" charset="0"/>
                <a:ea typeface="Tahoma" panose="020B0604030504040204" pitchFamily="34" charset="0"/>
                <a:cs typeface="Tahoma" panose="020B0604030504040204" pitchFamily="34" charset="0"/>
              </a:rPr>
              <a:t>° Visualizar las materias de cada curso</a:t>
            </a:r>
            <a:br>
              <a:rPr lang="es-MX" dirty="0">
                <a:latin typeface="Tahoma" panose="020B0604030504040204" pitchFamily="34" charset="0"/>
                <a:ea typeface="Tahoma" panose="020B0604030504040204" pitchFamily="34" charset="0"/>
                <a:cs typeface="Tahoma" panose="020B0604030504040204" pitchFamily="34" charset="0"/>
              </a:rPr>
            </a:br>
            <a:r>
              <a:rPr lang="es-MX" dirty="0">
                <a:latin typeface="Tahoma" panose="020B0604030504040204" pitchFamily="34" charset="0"/>
                <a:ea typeface="Tahoma" panose="020B0604030504040204" pitchFamily="34" charset="0"/>
                <a:cs typeface="Tahoma" panose="020B0604030504040204" pitchFamily="34" charset="0"/>
              </a:rPr>
              <a:t>° Visualizar los alumnos inscriptos en cada materia</a:t>
            </a:r>
            <a:br>
              <a:rPr lang="es-MX" dirty="0">
                <a:latin typeface="Tahoma" panose="020B0604030504040204" pitchFamily="34" charset="0"/>
                <a:ea typeface="Tahoma" panose="020B0604030504040204" pitchFamily="34" charset="0"/>
                <a:cs typeface="Tahoma" panose="020B0604030504040204" pitchFamily="34" charset="0"/>
              </a:rPr>
            </a:br>
            <a:r>
              <a:rPr lang="es-MX" dirty="0">
                <a:latin typeface="Tahoma" panose="020B0604030504040204" pitchFamily="34" charset="0"/>
                <a:ea typeface="Tahoma" panose="020B0604030504040204" pitchFamily="34" charset="0"/>
                <a:cs typeface="Tahoma" panose="020B0604030504040204" pitchFamily="34" charset="0"/>
              </a:rPr>
              <a:t>° Registrar y controlar la asistencia</a:t>
            </a:r>
          </a:p>
        </p:txBody>
      </p:sp>
      <p:pic>
        <p:nvPicPr>
          <p:cNvPr id="3" name="Imagen 2">
            <a:extLst>
              <a:ext uri="{FF2B5EF4-FFF2-40B4-BE49-F238E27FC236}">
                <a16:creationId xmlns:a16="http://schemas.microsoft.com/office/drawing/2014/main" id="{51DC09EA-24CC-42EC-9F08-1F304B162BEB}"/>
              </a:ext>
            </a:extLst>
          </p:cNvPr>
          <p:cNvPicPr>
            <a:picLocks noChangeAspect="1"/>
          </p:cNvPicPr>
          <p:nvPr/>
        </p:nvPicPr>
        <p:blipFill>
          <a:blip r:embed="rId2"/>
          <a:stretch>
            <a:fillRect/>
          </a:stretch>
        </p:blipFill>
        <p:spPr>
          <a:xfrm>
            <a:off x="209459" y="1865050"/>
            <a:ext cx="5516640" cy="3947622"/>
          </a:xfrm>
          <a:prstGeom prst="rect">
            <a:avLst/>
          </a:prstGeom>
        </p:spPr>
      </p:pic>
      <p:sp>
        <p:nvSpPr>
          <p:cNvPr id="12" name="Flecha: a la derecha 11">
            <a:hlinkClick r:id="rId3" action="ppaction://hlinksldjump"/>
            <a:extLst>
              <a:ext uri="{FF2B5EF4-FFF2-40B4-BE49-F238E27FC236}">
                <a16:creationId xmlns:a16="http://schemas.microsoft.com/office/drawing/2014/main" id="{608CFA63-759C-447E-885E-0290092B4122}"/>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Rectángulo 12">
            <a:hlinkClick r:id="rId3" action="ppaction://hlinksldjump"/>
            <a:extLst>
              <a:ext uri="{FF2B5EF4-FFF2-40B4-BE49-F238E27FC236}">
                <a16:creationId xmlns:a16="http://schemas.microsoft.com/office/drawing/2014/main" id="{FD77ED4D-0F20-4D0E-8743-54659F23CE24}"/>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2213873341"/>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7" name="Rectángulo 16">
            <a:extLst>
              <a:ext uri="{FF2B5EF4-FFF2-40B4-BE49-F238E27FC236}">
                <a16:creationId xmlns:a16="http://schemas.microsoft.com/office/drawing/2014/main" id="{4E2D570C-D100-464E-8387-89C6CC8416CE}"/>
              </a:ext>
            </a:extLst>
          </p:cNvPr>
          <p:cNvSpPr/>
          <p:nvPr/>
        </p:nvSpPr>
        <p:spPr>
          <a:xfrm>
            <a:off x="5781515" y="1678528"/>
            <a:ext cx="5213286" cy="3416320"/>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Al seleccionar la opción “Ver horarios”, se podrán gestionar los horarios de cursada de las materias correspondientes a cada curso. La grilla muestra la distribución horaria organizada por días de la semana y módulos.</a:t>
            </a:r>
          </a:p>
          <a:p>
            <a:r>
              <a:rPr lang="es-MX" dirty="0">
                <a:latin typeface="Tahoma" panose="020B0604030504040204" pitchFamily="34" charset="0"/>
                <a:ea typeface="Tahoma" panose="020B0604030504040204" pitchFamily="34" charset="0"/>
                <a:cs typeface="Tahoma" panose="020B0604030504040204" pitchFamily="34" charset="0"/>
              </a:rPr>
              <a:t>Desde esta pantalla, también es posible descargar el cronograma mediante el botón con ícono de impresora.</a:t>
            </a:r>
          </a:p>
          <a:p>
            <a:endParaRPr lang="es-MX" dirty="0">
              <a:latin typeface="Tahoma" panose="020B0604030504040204" pitchFamily="34" charset="0"/>
              <a:ea typeface="Tahoma" panose="020B0604030504040204" pitchFamily="34" charset="0"/>
              <a:cs typeface="Tahoma" panose="020B0604030504040204" pitchFamily="34" charset="0"/>
            </a:endParaRPr>
          </a:p>
          <a:p>
            <a:r>
              <a:rPr lang="es-MX" dirty="0">
                <a:latin typeface="Tahoma" panose="020B0604030504040204" pitchFamily="34" charset="0"/>
                <a:ea typeface="Tahoma" panose="020B0604030504040204" pitchFamily="34" charset="0"/>
                <a:cs typeface="Tahoma" panose="020B0604030504040204" pitchFamily="34" charset="0"/>
              </a:rPr>
              <a:t>Por ultimo, se efectuarán los cambios al presionar el botón de guardar situado en la esquina superior derecha.</a:t>
            </a:r>
          </a:p>
        </p:txBody>
      </p:sp>
      <p:sp>
        <p:nvSpPr>
          <p:cNvPr id="22" name="Rectángulo 21">
            <a:extLst>
              <a:ext uri="{FF2B5EF4-FFF2-40B4-BE49-F238E27FC236}">
                <a16:creationId xmlns:a16="http://schemas.microsoft.com/office/drawing/2014/main" id="{27D7C8F8-0333-45AA-A4B2-EF5171DA4770}"/>
              </a:ext>
            </a:extLst>
          </p:cNvPr>
          <p:cNvSpPr/>
          <p:nvPr/>
        </p:nvSpPr>
        <p:spPr>
          <a:xfrm>
            <a:off x="3485547" y="722423"/>
            <a:ext cx="5220917" cy="584775"/>
          </a:xfrm>
          <a:prstGeom prst="rect">
            <a:avLst/>
          </a:prstGeom>
          <a:noFill/>
        </p:spPr>
        <p:txBody>
          <a:bodyPr wrap="none" lIns="91440" tIns="45720" rIns="91440" bIns="45720">
            <a:spAutoFit/>
          </a:bodyPr>
          <a:lstStyle/>
          <a:p>
            <a:pPr algn="ctr"/>
            <a:r>
              <a:rPr lang="es-ES" sz="32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Módulo Carreras: Ver Años</a:t>
            </a:r>
            <a:endPar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pic>
        <p:nvPicPr>
          <p:cNvPr id="4" name="Imagen 3">
            <a:extLst>
              <a:ext uri="{FF2B5EF4-FFF2-40B4-BE49-F238E27FC236}">
                <a16:creationId xmlns:a16="http://schemas.microsoft.com/office/drawing/2014/main" id="{1BA74518-25A8-4522-945A-8C9ABFEDEC6A}"/>
              </a:ext>
            </a:extLst>
          </p:cNvPr>
          <p:cNvPicPr>
            <a:picLocks noChangeAspect="1"/>
          </p:cNvPicPr>
          <p:nvPr/>
        </p:nvPicPr>
        <p:blipFill>
          <a:blip r:embed="rId2"/>
          <a:stretch>
            <a:fillRect/>
          </a:stretch>
        </p:blipFill>
        <p:spPr>
          <a:xfrm>
            <a:off x="294119" y="1688806"/>
            <a:ext cx="5343202" cy="4155052"/>
          </a:xfrm>
          <a:prstGeom prst="rect">
            <a:avLst/>
          </a:prstGeom>
        </p:spPr>
      </p:pic>
      <p:sp>
        <p:nvSpPr>
          <p:cNvPr id="12" name="Flecha: a la derecha 11">
            <a:hlinkClick r:id="rId3" action="ppaction://hlinksldjump"/>
            <a:extLst>
              <a:ext uri="{FF2B5EF4-FFF2-40B4-BE49-F238E27FC236}">
                <a16:creationId xmlns:a16="http://schemas.microsoft.com/office/drawing/2014/main" id="{26DB4A69-D45F-4468-9505-5B28E4DB7437}"/>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Rectángulo 12">
            <a:hlinkClick r:id="rId3" action="ppaction://hlinksldjump"/>
            <a:extLst>
              <a:ext uri="{FF2B5EF4-FFF2-40B4-BE49-F238E27FC236}">
                <a16:creationId xmlns:a16="http://schemas.microsoft.com/office/drawing/2014/main" id="{65F59E85-7C94-467F-8632-5A9D9B337191}"/>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2456200512"/>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7" name="Rectángulo 16">
            <a:extLst>
              <a:ext uri="{FF2B5EF4-FFF2-40B4-BE49-F238E27FC236}">
                <a16:creationId xmlns:a16="http://schemas.microsoft.com/office/drawing/2014/main" id="{4E2D570C-D100-464E-8387-89C6CC8416CE}"/>
              </a:ext>
            </a:extLst>
          </p:cNvPr>
          <p:cNvSpPr/>
          <p:nvPr/>
        </p:nvSpPr>
        <p:spPr>
          <a:xfrm>
            <a:off x="5781515" y="1678528"/>
            <a:ext cx="5213286" cy="2031325"/>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Al seleccionar la opción “Ver mesas finales”, se desplegará una lista con todas las materias de la carrera. Desde esta lista, se deberá hacer doble clic sobre la materia para la cual se desee habilitar una fecha de examen final.</a:t>
            </a:r>
          </a:p>
          <a:p>
            <a:r>
              <a:rPr lang="es-MX" dirty="0">
                <a:latin typeface="Tahoma" panose="020B0604030504040204" pitchFamily="34" charset="0"/>
                <a:ea typeface="Tahoma" panose="020B0604030504040204" pitchFamily="34" charset="0"/>
                <a:cs typeface="Tahoma" panose="020B0604030504040204" pitchFamily="34" charset="0"/>
              </a:rPr>
              <a:t>A continuación, se explicará la pantalla correspondiente a esta acción.</a:t>
            </a:r>
          </a:p>
        </p:txBody>
      </p:sp>
      <p:sp>
        <p:nvSpPr>
          <p:cNvPr id="22" name="Rectángulo 21">
            <a:extLst>
              <a:ext uri="{FF2B5EF4-FFF2-40B4-BE49-F238E27FC236}">
                <a16:creationId xmlns:a16="http://schemas.microsoft.com/office/drawing/2014/main" id="{27D7C8F8-0333-45AA-A4B2-EF5171DA4770}"/>
              </a:ext>
            </a:extLst>
          </p:cNvPr>
          <p:cNvSpPr/>
          <p:nvPr/>
        </p:nvSpPr>
        <p:spPr>
          <a:xfrm>
            <a:off x="2634260" y="722423"/>
            <a:ext cx="6923498" cy="584775"/>
          </a:xfrm>
          <a:prstGeom prst="rect">
            <a:avLst/>
          </a:prstGeom>
          <a:noFill/>
        </p:spPr>
        <p:txBody>
          <a:bodyPr wrap="none" lIns="91440" tIns="45720" rIns="91440" bIns="45720">
            <a:spAutoFit/>
          </a:bodyPr>
          <a:lstStyle/>
          <a:p>
            <a:pPr algn="ctr"/>
            <a:r>
              <a:rPr lang="es-ES" sz="32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Módulo Carreras: Ver Mesas Finales</a:t>
            </a:r>
            <a:endPar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pic>
        <p:nvPicPr>
          <p:cNvPr id="6" name="Imagen 5">
            <a:extLst>
              <a:ext uri="{FF2B5EF4-FFF2-40B4-BE49-F238E27FC236}">
                <a16:creationId xmlns:a16="http://schemas.microsoft.com/office/drawing/2014/main" id="{D27A497B-B3E6-497A-B008-D313716314DA}"/>
              </a:ext>
            </a:extLst>
          </p:cNvPr>
          <p:cNvPicPr>
            <a:picLocks noChangeAspect="1"/>
          </p:cNvPicPr>
          <p:nvPr/>
        </p:nvPicPr>
        <p:blipFill>
          <a:blip r:embed="rId2"/>
          <a:stretch>
            <a:fillRect/>
          </a:stretch>
        </p:blipFill>
        <p:spPr>
          <a:xfrm>
            <a:off x="149465" y="1397087"/>
            <a:ext cx="5478977" cy="4312026"/>
          </a:xfrm>
          <a:prstGeom prst="rect">
            <a:avLst/>
          </a:prstGeom>
        </p:spPr>
      </p:pic>
      <p:sp>
        <p:nvSpPr>
          <p:cNvPr id="7" name="Elipse 6">
            <a:extLst>
              <a:ext uri="{FF2B5EF4-FFF2-40B4-BE49-F238E27FC236}">
                <a16:creationId xmlns:a16="http://schemas.microsoft.com/office/drawing/2014/main" id="{F27D06A3-80C1-4991-B38C-A83CA12AAF1D}"/>
              </a:ext>
            </a:extLst>
          </p:cNvPr>
          <p:cNvSpPr/>
          <p:nvPr/>
        </p:nvSpPr>
        <p:spPr>
          <a:xfrm>
            <a:off x="269482" y="1743664"/>
            <a:ext cx="1287262" cy="369222"/>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Rectángulo 11">
            <a:extLst>
              <a:ext uri="{FF2B5EF4-FFF2-40B4-BE49-F238E27FC236}">
                <a16:creationId xmlns:a16="http://schemas.microsoft.com/office/drawing/2014/main" id="{A180A255-9EB8-468D-B1CA-CA93C8241800}"/>
              </a:ext>
            </a:extLst>
          </p:cNvPr>
          <p:cNvSpPr/>
          <p:nvPr/>
        </p:nvSpPr>
        <p:spPr>
          <a:xfrm>
            <a:off x="5781515" y="5320958"/>
            <a:ext cx="5213286" cy="646331"/>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Con este botón se podrá agregar una mesa con turno especial</a:t>
            </a:r>
          </a:p>
        </p:txBody>
      </p:sp>
      <p:cxnSp>
        <p:nvCxnSpPr>
          <p:cNvPr id="10" name="Conector: angular 9">
            <a:extLst>
              <a:ext uri="{FF2B5EF4-FFF2-40B4-BE49-F238E27FC236}">
                <a16:creationId xmlns:a16="http://schemas.microsoft.com/office/drawing/2014/main" id="{C22C5586-487D-4ECB-A5F3-3A74D03DD3B7}"/>
              </a:ext>
            </a:extLst>
          </p:cNvPr>
          <p:cNvCxnSpPr>
            <a:cxnSpLocks/>
            <a:stCxn id="7" idx="0"/>
            <a:endCxn id="12" idx="2"/>
          </p:cNvCxnSpPr>
          <p:nvPr/>
        </p:nvCxnSpPr>
        <p:spPr>
          <a:xfrm rot="16200000" flipH="1">
            <a:off x="2538822" y="117954"/>
            <a:ext cx="4223625" cy="7475045"/>
          </a:xfrm>
          <a:prstGeom prst="bentConnector5">
            <a:avLst>
              <a:gd name="adj1" fmla="val -5412"/>
              <a:gd name="adj2" fmla="val -11348"/>
              <a:gd name="adj3" fmla="val 10541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Flecha: a la derecha 24">
            <a:hlinkClick r:id="rId3" action="ppaction://hlinksldjump"/>
            <a:extLst>
              <a:ext uri="{FF2B5EF4-FFF2-40B4-BE49-F238E27FC236}">
                <a16:creationId xmlns:a16="http://schemas.microsoft.com/office/drawing/2014/main" id="{9E547E72-374D-4446-8F78-71A7FC29B41E}"/>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6" name="Rectángulo 25">
            <a:hlinkClick r:id="rId3" action="ppaction://hlinksldjump"/>
            <a:extLst>
              <a:ext uri="{FF2B5EF4-FFF2-40B4-BE49-F238E27FC236}">
                <a16:creationId xmlns:a16="http://schemas.microsoft.com/office/drawing/2014/main" id="{C39A444A-D7BD-404A-B70F-D1DB5CB1FD3A}"/>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185648126"/>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2" name="Rectángulo 11">
            <a:extLst>
              <a:ext uri="{FF2B5EF4-FFF2-40B4-BE49-F238E27FC236}">
                <a16:creationId xmlns:a16="http://schemas.microsoft.com/office/drawing/2014/main" id="{A180A255-9EB8-468D-B1CA-CA93C8241800}"/>
              </a:ext>
            </a:extLst>
          </p:cNvPr>
          <p:cNvSpPr/>
          <p:nvPr/>
        </p:nvSpPr>
        <p:spPr>
          <a:xfrm>
            <a:off x="5577328" y="1565375"/>
            <a:ext cx="5213286" cy="646331"/>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Con este botón se podrá elegir la fecha en la que se llevará a cabo la mesa final</a:t>
            </a:r>
          </a:p>
        </p:txBody>
      </p:sp>
      <p:pic>
        <p:nvPicPr>
          <p:cNvPr id="3" name="Imagen 2">
            <a:extLst>
              <a:ext uri="{FF2B5EF4-FFF2-40B4-BE49-F238E27FC236}">
                <a16:creationId xmlns:a16="http://schemas.microsoft.com/office/drawing/2014/main" id="{74417212-3BDA-4205-8250-300C650C9A9C}"/>
              </a:ext>
            </a:extLst>
          </p:cNvPr>
          <p:cNvPicPr>
            <a:picLocks noChangeAspect="1"/>
          </p:cNvPicPr>
          <p:nvPr/>
        </p:nvPicPr>
        <p:blipFill rotWithShape="1">
          <a:blip r:embed="rId2"/>
          <a:srcRect l="1260"/>
          <a:stretch/>
        </p:blipFill>
        <p:spPr>
          <a:xfrm>
            <a:off x="243119" y="1354279"/>
            <a:ext cx="5213285" cy="4182691"/>
          </a:xfrm>
          <a:prstGeom prst="rect">
            <a:avLst/>
          </a:prstGeom>
        </p:spPr>
      </p:pic>
      <p:sp>
        <p:nvSpPr>
          <p:cNvPr id="7" name="Elipse 6">
            <a:extLst>
              <a:ext uri="{FF2B5EF4-FFF2-40B4-BE49-F238E27FC236}">
                <a16:creationId xmlns:a16="http://schemas.microsoft.com/office/drawing/2014/main" id="{F27D06A3-80C1-4991-B38C-A83CA12AAF1D}"/>
              </a:ext>
            </a:extLst>
          </p:cNvPr>
          <p:cNvSpPr/>
          <p:nvPr/>
        </p:nvSpPr>
        <p:spPr>
          <a:xfrm>
            <a:off x="4957146" y="1678528"/>
            <a:ext cx="499258" cy="369222"/>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10" name="Conector: angular 9">
            <a:extLst>
              <a:ext uri="{FF2B5EF4-FFF2-40B4-BE49-F238E27FC236}">
                <a16:creationId xmlns:a16="http://schemas.microsoft.com/office/drawing/2014/main" id="{C22C5586-487D-4ECB-A5F3-3A74D03DD3B7}"/>
              </a:ext>
            </a:extLst>
          </p:cNvPr>
          <p:cNvCxnSpPr>
            <a:cxnSpLocks/>
            <a:stCxn id="7" idx="0"/>
            <a:endCxn id="12" idx="0"/>
          </p:cNvCxnSpPr>
          <p:nvPr/>
        </p:nvCxnSpPr>
        <p:spPr>
          <a:xfrm rot="5400000" flipH="1" flipV="1">
            <a:off x="6638797" y="133354"/>
            <a:ext cx="113153" cy="2977196"/>
          </a:xfrm>
          <a:prstGeom prst="bentConnector3">
            <a:avLst>
              <a:gd name="adj1" fmla="val 302027"/>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ángulo 22">
            <a:extLst>
              <a:ext uri="{FF2B5EF4-FFF2-40B4-BE49-F238E27FC236}">
                <a16:creationId xmlns:a16="http://schemas.microsoft.com/office/drawing/2014/main" id="{028507BF-E1BF-468B-807A-B24B15571280}"/>
              </a:ext>
            </a:extLst>
          </p:cNvPr>
          <p:cNvSpPr/>
          <p:nvPr/>
        </p:nvSpPr>
        <p:spPr>
          <a:xfrm>
            <a:off x="5685339" y="2613022"/>
            <a:ext cx="5213286" cy="646331"/>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Estos datos se llenaran con los campos elegidos en la pantalla anterior</a:t>
            </a:r>
          </a:p>
        </p:txBody>
      </p:sp>
      <p:cxnSp>
        <p:nvCxnSpPr>
          <p:cNvPr id="24" name="Conector: angular 23">
            <a:extLst>
              <a:ext uri="{FF2B5EF4-FFF2-40B4-BE49-F238E27FC236}">
                <a16:creationId xmlns:a16="http://schemas.microsoft.com/office/drawing/2014/main" id="{74AF86F6-2A36-4771-80FB-2C5F82CF6143}"/>
              </a:ext>
            </a:extLst>
          </p:cNvPr>
          <p:cNvCxnSpPr>
            <a:cxnSpLocks/>
            <a:endCxn id="23" idx="1"/>
          </p:cNvCxnSpPr>
          <p:nvPr/>
        </p:nvCxnSpPr>
        <p:spPr>
          <a:xfrm>
            <a:off x="5335480" y="2613022"/>
            <a:ext cx="349859" cy="323166"/>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angular 26">
            <a:extLst>
              <a:ext uri="{FF2B5EF4-FFF2-40B4-BE49-F238E27FC236}">
                <a16:creationId xmlns:a16="http://schemas.microsoft.com/office/drawing/2014/main" id="{69CF714C-9762-4260-9D82-0684559AB79C}"/>
              </a:ext>
            </a:extLst>
          </p:cNvPr>
          <p:cNvCxnSpPr>
            <a:cxnSpLocks/>
            <a:endCxn id="23" idx="1"/>
          </p:cNvCxnSpPr>
          <p:nvPr/>
        </p:nvCxnSpPr>
        <p:spPr>
          <a:xfrm flipV="1">
            <a:off x="5341937" y="2936188"/>
            <a:ext cx="343402" cy="225398"/>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angular 28">
            <a:extLst>
              <a:ext uri="{FF2B5EF4-FFF2-40B4-BE49-F238E27FC236}">
                <a16:creationId xmlns:a16="http://schemas.microsoft.com/office/drawing/2014/main" id="{2950E8A5-80CF-490F-8F78-3172AEF95A78}"/>
              </a:ext>
            </a:extLst>
          </p:cNvPr>
          <p:cNvCxnSpPr>
            <a:cxnSpLocks/>
            <a:endCxn id="23" idx="1"/>
          </p:cNvCxnSpPr>
          <p:nvPr/>
        </p:nvCxnSpPr>
        <p:spPr>
          <a:xfrm rot="5400000" flipH="1" flipV="1">
            <a:off x="5067422" y="3201125"/>
            <a:ext cx="882854" cy="352980"/>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ector: angular 39">
            <a:extLst>
              <a:ext uri="{FF2B5EF4-FFF2-40B4-BE49-F238E27FC236}">
                <a16:creationId xmlns:a16="http://schemas.microsoft.com/office/drawing/2014/main" id="{11079AFC-3B91-4FB5-8F20-F52F2956FE2E}"/>
              </a:ext>
            </a:extLst>
          </p:cNvPr>
          <p:cNvCxnSpPr>
            <a:cxnSpLocks/>
            <a:endCxn id="42" idx="1"/>
          </p:cNvCxnSpPr>
          <p:nvPr/>
        </p:nvCxnSpPr>
        <p:spPr>
          <a:xfrm rot="5400000" flipH="1" flipV="1">
            <a:off x="5166226" y="3880517"/>
            <a:ext cx="701282" cy="352977"/>
          </a:xfrm>
          <a:prstGeom prst="bentConnector2">
            <a:avLst/>
          </a:prstGeom>
          <a:ln w="38100">
            <a:solidFill>
              <a:srgbClr val="27457B"/>
            </a:solidFill>
            <a:tailEnd type="triangle"/>
          </a:ln>
        </p:spPr>
        <p:style>
          <a:lnRef idx="1">
            <a:schemeClr val="accent1"/>
          </a:lnRef>
          <a:fillRef idx="0">
            <a:schemeClr val="accent1"/>
          </a:fillRef>
          <a:effectRef idx="0">
            <a:schemeClr val="accent1"/>
          </a:effectRef>
          <a:fontRef idx="minor">
            <a:schemeClr val="tx1"/>
          </a:fontRef>
        </p:style>
      </p:cxnSp>
      <p:sp>
        <p:nvSpPr>
          <p:cNvPr id="42" name="Rectángulo 41">
            <a:extLst>
              <a:ext uri="{FF2B5EF4-FFF2-40B4-BE49-F238E27FC236}">
                <a16:creationId xmlns:a16="http://schemas.microsoft.com/office/drawing/2014/main" id="{BB43D586-7F12-4346-99D9-1B5436044D39}"/>
              </a:ext>
            </a:extLst>
          </p:cNvPr>
          <p:cNvSpPr/>
          <p:nvPr/>
        </p:nvSpPr>
        <p:spPr>
          <a:xfrm>
            <a:off x="5693356" y="3383198"/>
            <a:ext cx="5213286" cy="646331"/>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Aquí se seleccionará entre los profesores disponibles para presentarse en la mesa final</a:t>
            </a:r>
          </a:p>
        </p:txBody>
      </p:sp>
      <p:cxnSp>
        <p:nvCxnSpPr>
          <p:cNvPr id="47" name="Conector: angular 46">
            <a:extLst>
              <a:ext uri="{FF2B5EF4-FFF2-40B4-BE49-F238E27FC236}">
                <a16:creationId xmlns:a16="http://schemas.microsoft.com/office/drawing/2014/main" id="{515EBFCC-D9B7-4C03-80A9-B18B3D2668C8}"/>
              </a:ext>
            </a:extLst>
          </p:cNvPr>
          <p:cNvCxnSpPr>
            <a:cxnSpLocks/>
            <a:endCxn id="49" idx="1"/>
          </p:cNvCxnSpPr>
          <p:nvPr/>
        </p:nvCxnSpPr>
        <p:spPr>
          <a:xfrm flipV="1">
            <a:off x="4957146" y="4740494"/>
            <a:ext cx="809464" cy="238911"/>
          </a:xfrm>
          <a:prstGeom prst="bentConnector3">
            <a:avLst>
              <a:gd name="adj1" fmla="val -45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Rectángulo 48">
            <a:extLst>
              <a:ext uri="{FF2B5EF4-FFF2-40B4-BE49-F238E27FC236}">
                <a16:creationId xmlns:a16="http://schemas.microsoft.com/office/drawing/2014/main" id="{88FA06B7-2884-43E8-B66C-622319FB6E30}"/>
              </a:ext>
            </a:extLst>
          </p:cNvPr>
          <p:cNvSpPr/>
          <p:nvPr/>
        </p:nvSpPr>
        <p:spPr>
          <a:xfrm>
            <a:off x="5766610" y="4278829"/>
            <a:ext cx="5213286" cy="923330"/>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Con este botón se llevará a cabo la habilitación de la mesa final con toda la información ingresada</a:t>
            </a:r>
          </a:p>
        </p:txBody>
      </p:sp>
      <p:sp>
        <p:nvSpPr>
          <p:cNvPr id="53" name="Flecha: a la derecha 52">
            <a:hlinkClick r:id="rId3" action="ppaction://hlinksldjump"/>
            <a:extLst>
              <a:ext uri="{FF2B5EF4-FFF2-40B4-BE49-F238E27FC236}">
                <a16:creationId xmlns:a16="http://schemas.microsoft.com/office/drawing/2014/main" id="{08BC75FC-54F1-4713-B0E4-78F52EC45A1C}"/>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54" name="Rectángulo 53">
            <a:hlinkClick r:id="rId3" action="ppaction://hlinksldjump"/>
            <a:extLst>
              <a:ext uri="{FF2B5EF4-FFF2-40B4-BE49-F238E27FC236}">
                <a16:creationId xmlns:a16="http://schemas.microsoft.com/office/drawing/2014/main" id="{7ADA52EA-1B62-48D2-B33F-9F9EAFD3ABBE}"/>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3961752216"/>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5454CCA-D12D-462D-8D33-87A38AB2DB33}"/>
              </a:ext>
            </a:extLst>
          </p:cNvPr>
          <p:cNvPicPr>
            <a:picLocks noChangeAspect="1"/>
          </p:cNvPicPr>
          <p:nvPr/>
        </p:nvPicPr>
        <p:blipFill>
          <a:blip r:embed="rId2"/>
          <a:stretch>
            <a:fillRect/>
          </a:stretch>
        </p:blipFill>
        <p:spPr>
          <a:xfrm>
            <a:off x="157468" y="1410909"/>
            <a:ext cx="5868114" cy="3910049"/>
          </a:xfrm>
          <a:prstGeom prst="rect">
            <a:avLst/>
          </a:prstGeom>
        </p:spPr>
      </p:pic>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22" name="Rectángulo 21">
            <a:extLst>
              <a:ext uri="{FF2B5EF4-FFF2-40B4-BE49-F238E27FC236}">
                <a16:creationId xmlns:a16="http://schemas.microsoft.com/office/drawing/2014/main" id="{27D7C8F8-0333-45AA-A4B2-EF5171DA4770}"/>
              </a:ext>
            </a:extLst>
          </p:cNvPr>
          <p:cNvSpPr/>
          <p:nvPr/>
        </p:nvSpPr>
        <p:spPr>
          <a:xfrm>
            <a:off x="2629454" y="722423"/>
            <a:ext cx="6933116" cy="584775"/>
          </a:xfrm>
          <a:prstGeom prst="rect">
            <a:avLst/>
          </a:prstGeom>
          <a:noFill/>
        </p:spPr>
        <p:txBody>
          <a:bodyPr wrap="none" lIns="91440" tIns="45720" rIns="91440" bIns="45720">
            <a:spAutoFit/>
          </a:bodyPr>
          <a:lstStyle/>
          <a:p>
            <a:pPr algn="ctr"/>
            <a:r>
              <a:rPr lang="es-ES" sz="32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Módulo Carreras: Ver equivalencias</a:t>
            </a:r>
            <a:endPar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sp>
        <p:nvSpPr>
          <p:cNvPr id="12" name="Rectángulo 11">
            <a:extLst>
              <a:ext uri="{FF2B5EF4-FFF2-40B4-BE49-F238E27FC236}">
                <a16:creationId xmlns:a16="http://schemas.microsoft.com/office/drawing/2014/main" id="{A180A255-9EB8-468D-B1CA-CA93C8241800}"/>
              </a:ext>
            </a:extLst>
          </p:cNvPr>
          <p:cNvSpPr/>
          <p:nvPr/>
        </p:nvSpPr>
        <p:spPr>
          <a:xfrm>
            <a:off x="6096000" y="1537042"/>
            <a:ext cx="5213286" cy="646331"/>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Se elige la materia a la que se le quieren gestionar las equivalencias</a:t>
            </a:r>
          </a:p>
        </p:txBody>
      </p:sp>
      <p:sp>
        <p:nvSpPr>
          <p:cNvPr id="7" name="Elipse 6">
            <a:extLst>
              <a:ext uri="{FF2B5EF4-FFF2-40B4-BE49-F238E27FC236}">
                <a16:creationId xmlns:a16="http://schemas.microsoft.com/office/drawing/2014/main" id="{F27D06A3-80C1-4991-B38C-A83CA12AAF1D}"/>
              </a:ext>
            </a:extLst>
          </p:cNvPr>
          <p:cNvSpPr/>
          <p:nvPr/>
        </p:nvSpPr>
        <p:spPr>
          <a:xfrm>
            <a:off x="3439065" y="2303165"/>
            <a:ext cx="45719" cy="4571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10" name="Conector: angular 9">
            <a:extLst>
              <a:ext uri="{FF2B5EF4-FFF2-40B4-BE49-F238E27FC236}">
                <a16:creationId xmlns:a16="http://schemas.microsoft.com/office/drawing/2014/main" id="{C22C5586-487D-4ECB-A5F3-3A74D03DD3B7}"/>
              </a:ext>
            </a:extLst>
          </p:cNvPr>
          <p:cNvCxnSpPr>
            <a:cxnSpLocks/>
            <a:stCxn id="7" idx="7"/>
            <a:endCxn id="12" idx="0"/>
          </p:cNvCxnSpPr>
          <p:nvPr/>
        </p:nvCxnSpPr>
        <p:spPr>
          <a:xfrm rot="5400000" flipH="1" flipV="1">
            <a:off x="5703957" y="-688826"/>
            <a:ext cx="772818" cy="5224554"/>
          </a:xfrm>
          <a:prstGeom prst="bentConnector3">
            <a:avLst>
              <a:gd name="adj1" fmla="val 12958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angular 29">
            <a:extLst>
              <a:ext uri="{FF2B5EF4-FFF2-40B4-BE49-F238E27FC236}">
                <a16:creationId xmlns:a16="http://schemas.microsoft.com/office/drawing/2014/main" id="{14486455-1A8F-40DA-AAB2-E2E22CC6F79E}"/>
              </a:ext>
            </a:extLst>
          </p:cNvPr>
          <p:cNvCxnSpPr>
            <a:cxnSpLocks/>
            <a:stCxn id="31" idx="0"/>
            <a:endCxn id="41" idx="0"/>
          </p:cNvCxnSpPr>
          <p:nvPr/>
        </p:nvCxnSpPr>
        <p:spPr>
          <a:xfrm rot="5400000" flipH="1" flipV="1">
            <a:off x="6161002" y="135706"/>
            <a:ext cx="260693" cy="4963430"/>
          </a:xfrm>
          <a:prstGeom prst="bentConnector3">
            <a:avLst>
              <a:gd name="adj1" fmla="val 17066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Elipse 30">
            <a:extLst>
              <a:ext uri="{FF2B5EF4-FFF2-40B4-BE49-F238E27FC236}">
                <a16:creationId xmlns:a16="http://schemas.microsoft.com/office/drawing/2014/main" id="{3E103706-1343-4EF3-828B-55EC7123BA16}"/>
              </a:ext>
            </a:extLst>
          </p:cNvPr>
          <p:cNvSpPr/>
          <p:nvPr/>
        </p:nvSpPr>
        <p:spPr>
          <a:xfrm>
            <a:off x="3786773" y="2747767"/>
            <a:ext cx="45719" cy="4571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3" name="Elipse 32">
            <a:extLst>
              <a:ext uri="{FF2B5EF4-FFF2-40B4-BE49-F238E27FC236}">
                <a16:creationId xmlns:a16="http://schemas.microsoft.com/office/drawing/2014/main" id="{CBCF886B-CA20-486F-B4D3-3A21E4B6E33C}"/>
              </a:ext>
            </a:extLst>
          </p:cNvPr>
          <p:cNvSpPr/>
          <p:nvPr/>
        </p:nvSpPr>
        <p:spPr>
          <a:xfrm>
            <a:off x="2963315" y="2647165"/>
            <a:ext cx="45719" cy="4571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34" name="Conector: angular 33">
            <a:extLst>
              <a:ext uri="{FF2B5EF4-FFF2-40B4-BE49-F238E27FC236}">
                <a16:creationId xmlns:a16="http://schemas.microsoft.com/office/drawing/2014/main" id="{7A2FEABD-1790-4968-A230-7284AC74F624}"/>
              </a:ext>
            </a:extLst>
          </p:cNvPr>
          <p:cNvCxnSpPr>
            <a:cxnSpLocks/>
          </p:cNvCxnSpPr>
          <p:nvPr/>
        </p:nvCxnSpPr>
        <p:spPr>
          <a:xfrm flipV="1">
            <a:off x="2979478" y="2309859"/>
            <a:ext cx="882353" cy="346471"/>
          </a:xfrm>
          <a:prstGeom prst="bentConnector3">
            <a:avLst>
              <a:gd name="adj1" fmla="val 6727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Elipse 36">
            <a:extLst>
              <a:ext uri="{FF2B5EF4-FFF2-40B4-BE49-F238E27FC236}">
                <a16:creationId xmlns:a16="http://schemas.microsoft.com/office/drawing/2014/main" id="{FEB5045C-9232-48D6-8032-0B7D9BDD5561}"/>
              </a:ext>
            </a:extLst>
          </p:cNvPr>
          <p:cNvSpPr/>
          <p:nvPr/>
        </p:nvSpPr>
        <p:spPr>
          <a:xfrm>
            <a:off x="4658264" y="2688318"/>
            <a:ext cx="45719" cy="4571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38" name="Conector: angular 37">
            <a:extLst>
              <a:ext uri="{FF2B5EF4-FFF2-40B4-BE49-F238E27FC236}">
                <a16:creationId xmlns:a16="http://schemas.microsoft.com/office/drawing/2014/main" id="{D3637FD6-41AD-429C-892F-5198F1E054B8}"/>
              </a:ext>
            </a:extLst>
          </p:cNvPr>
          <p:cNvCxnSpPr>
            <a:cxnSpLocks/>
            <a:stCxn id="37" idx="6"/>
          </p:cNvCxnSpPr>
          <p:nvPr/>
        </p:nvCxnSpPr>
        <p:spPr>
          <a:xfrm flipH="1" flipV="1">
            <a:off x="3741420" y="2309860"/>
            <a:ext cx="962563" cy="401318"/>
          </a:xfrm>
          <a:prstGeom prst="bentConnector3">
            <a:avLst>
              <a:gd name="adj1" fmla="val 158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Rectángulo 40">
            <a:extLst>
              <a:ext uri="{FF2B5EF4-FFF2-40B4-BE49-F238E27FC236}">
                <a16:creationId xmlns:a16="http://schemas.microsoft.com/office/drawing/2014/main" id="{9575E8AA-5BC6-438B-A201-CA90D529568D}"/>
              </a:ext>
            </a:extLst>
          </p:cNvPr>
          <p:cNvSpPr/>
          <p:nvPr/>
        </p:nvSpPr>
        <p:spPr>
          <a:xfrm>
            <a:off x="6166420" y="2487074"/>
            <a:ext cx="5213286" cy="923330"/>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Este conjunto de controles permite seleccionar dos materias y definir una equivalencia entre ambas dentro de la carrera seleccionada.</a:t>
            </a:r>
          </a:p>
        </p:txBody>
      </p:sp>
      <p:sp>
        <p:nvSpPr>
          <p:cNvPr id="59" name="Rectángulo 58">
            <a:extLst>
              <a:ext uri="{FF2B5EF4-FFF2-40B4-BE49-F238E27FC236}">
                <a16:creationId xmlns:a16="http://schemas.microsoft.com/office/drawing/2014/main" id="{09CD1212-7306-48AA-AA8A-31C18C260BCE}"/>
              </a:ext>
            </a:extLst>
          </p:cNvPr>
          <p:cNvSpPr/>
          <p:nvPr/>
        </p:nvSpPr>
        <p:spPr>
          <a:xfrm>
            <a:off x="1549101" y="4132962"/>
            <a:ext cx="4477594" cy="112598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0" name="Rectángulo 59">
            <a:extLst>
              <a:ext uri="{FF2B5EF4-FFF2-40B4-BE49-F238E27FC236}">
                <a16:creationId xmlns:a16="http://schemas.microsoft.com/office/drawing/2014/main" id="{FABFCCEF-FC23-4189-8A14-4740DE1F7DD0}"/>
              </a:ext>
            </a:extLst>
          </p:cNvPr>
          <p:cNvSpPr/>
          <p:nvPr/>
        </p:nvSpPr>
        <p:spPr>
          <a:xfrm>
            <a:off x="138715" y="5583138"/>
            <a:ext cx="7341833" cy="646331"/>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Este panel muestra las equivalencias existentes. Desde aquí, es posible seleccionarlas para eliminarlas de forma individual.</a:t>
            </a:r>
          </a:p>
        </p:txBody>
      </p:sp>
      <p:cxnSp>
        <p:nvCxnSpPr>
          <p:cNvPr id="61" name="Conector: angular 60">
            <a:extLst>
              <a:ext uri="{FF2B5EF4-FFF2-40B4-BE49-F238E27FC236}">
                <a16:creationId xmlns:a16="http://schemas.microsoft.com/office/drawing/2014/main" id="{064F9B5C-D131-42F4-9D5D-405C3889755B}"/>
              </a:ext>
            </a:extLst>
          </p:cNvPr>
          <p:cNvCxnSpPr>
            <a:cxnSpLocks/>
            <a:stCxn id="4" idx="2"/>
            <a:endCxn id="60" idx="0"/>
          </p:cNvCxnSpPr>
          <p:nvPr/>
        </p:nvCxnSpPr>
        <p:spPr>
          <a:xfrm rot="16200000" flipH="1">
            <a:off x="3319488" y="5092994"/>
            <a:ext cx="262180" cy="718107"/>
          </a:xfrm>
          <a:prstGeom prst="bentConnector3">
            <a:avLst>
              <a:gd name="adj1" fmla="val 3943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7" name="Elipse 66">
            <a:extLst>
              <a:ext uri="{FF2B5EF4-FFF2-40B4-BE49-F238E27FC236}">
                <a16:creationId xmlns:a16="http://schemas.microsoft.com/office/drawing/2014/main" id="{014E163D-C6D1-439E-B1B8-47E57B73BDEA}"/>
              </a:ext>
            </a:extLst>
          </p:cNvPr>
          <p:cNvSpPr/>
          <p:nvPr/>
        </p:nvSpPr>
        <p:spPr>
          <a:xfrm>
            <a:off x="3817487" y="3918460"/>
            <a:ext cx="45719" cy="4571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68" name="Conector: angular 67">
            <a:extLst>
              <a:ext uri="{FF2B5EF4-FFF2-40B4-BE49-F238E27FC236}">
                <a16:creationId xmlns:a16="http://schemas.microsoft.com/office/drawing/2014/main" id="{26E1AA42-A227-43BA-AF27-0F4C54990EBC}"/>
              </a:ext>
            </a:extLst>
          </p:cNvPr>
          <p:cNvCxnSpPr>
            <a:cxnSpLocks/>
            <a:stCxn id="67" idx="6"/>
            <a:endCxn id="74" idx="0"/>
          </p:cNvCxnSpPr>
          <p:nvPr/>
        </p:nvCxnSpPr>
        <p:spPr>
          <a:xfrm flipV="1">
            <a:off x="3863206" y="3821410"/>
            <a:ext cx="4918848" cy="119910"/>
          </a:xfrm>
          <a:prstGeom prst="bentConnector4">
            <a:avLst>
              <a:gd name="adj1" fmla="val 3014"/>
              <a:gd name="adj2" fmla="val 238817"/>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4" name="Rectángulo 73">
            <a:extLst>
              <a:ext uri="{FF2B5EF4-FFF2-40B4-BE49-F238E27FC236}">
                <a16:creationId xmlns:a16="http://schemas.microsoft.com/office/drawing/2014/main" id="{BD80005C-236F-4FDF-8D69-D5D918575E7E}"/>
              </a:ext>
            </a:extLst>
          </p:cNvPr>
          <p:cNvSpPr/>
          <p:nvPr/>
        </p:nvSpPr>
        <p:spPr>
          <a:xfrm>
            <a:off x="6254822" y="3821410"/>
            <a:ext cx="5054464" cy="923330"/>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Si previamente hemos seleccionado una equivalencia en el panel de abajo, con este botón podremos eliminarla</a:t>
            </a:r>
          </a:p>
        </p:txBody>
      </p:sp>
      <p:sp>
        <p:nvSpPr>
          <p:cNvPr id="84" name="Flecha: a la derecha 83">
            <a:hlinkClick r:id="rId3" action="ppaction://hlinksldjump"/>
            <a:extLst>
              <a:ext uri="{FF2B5EF4-FFF2-40B4-BE49-F238E27FC236}">
                <a16:creationId xmlns:a16="http://schemas.microsoft.com/office/drawing/2014/main" id="{049D4D51-2AB8-4460-906C-44C5A7BA3901}"/>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5" name="Rectángulo 84">
            <a:hlinkClick r:id="rId3" action="ppaction://hlinksldjump"/>
            <a:extLst>
              <a:ext uri="{FF2B5EF4-FFF2-40B4-BE49-F238E27FC236}">
                <a16:creationId xmlns:a16="http://schemas.microsoft.com/office/drawing/2014/main" id="{B160E461-2F90-4FEA-B0CC-4A801CF8EC35}"/>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1036505754"/>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22" name="Rectángulo 21">
            <a:extLst>
              <a:ext uri="{FF2B5EF4-FFF2-40B4-BE49-F238E27FC236}">
                <a16:creationId xmlns:a16="http://schemas.microsoft.com/office/drawing/2014/main" id="{27D7C8F8-0333-45AA-A4B2-EF5171DA4770}"/>
              </a:ext>
            </a:extLst>
          </p:cNvPr>
          <p:cNvSpPr/>
          <p:nvPr/>
        </p:nvSpPr>
        <p:spPr>
          <a:xfrm>
            <a:off x="3458108" y="722423"/>
            <a:ext cx="5275804" cy="584775"/>
          </a:xfrm>
          <a:prstGeom prst="rect">
            <a:avLst/>
          </a:prstGeom>
          <a:noFill/>
        </p:spPr>
        <p:txBody>
          <a:bodyPr wrap="none" lIns="91440" tIns="45720" rIns="91440" bIns="45720">
            <a:spAutoFit/>
          </a:bodyPr>
          <a:lstStyle/>
          <a:p>
            <a:pPr algn="ctr"/>
            <a:r>
              <a:rPr lang="es-ES" sz="32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Módulo Carreras: Bloquear</a:t>
            </a:r>
            <a:endPar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pic>
        <p:nvPicPr>
          <p:cNvPr id="3" name="Imagen 2">
            <a:extLst>
              <a:ext uri="{FF2B5EF4-FFF2-40B4-BE49-F238E27FC236}">
                <a16:creationId xmlns:a16="http://schemas.microsoft.com/office/drawing/2014/main" id="{91A57BC0-ABA2-410C-A542-FE045CEEC20F}"/>
              </a:ext>
            </a:extLst>
          </p:cNvPr>
          <p:cNvPicPr>
            <a:picLocks noChangeAspect="1"/>
          </p:cNvPicPr>
          <p:nvPr/>
        </p:nvPicPr>
        <p:blipFill rotWithShape="1">
          <a:blip r:embed="rId2"/>
          <a:srcRect l="1197" t="2026" r="3217" b="733"/>
          <a:stretch/>
        </p:blipFill>
        <p:spPr>
          <a:xfrm>
            <a:off x="160053" y="1506966"/>
            <a:ext cx="6596110" cy="4341180"/>
          </a:xfrm>
          <a:prstGeom prst="rect">
            <a:avLst/>
          </a:prstGeom>
        </p:spPr>
      </p:pic>
      <p:cxnSp>
        <p:nvCxnSpPr>
          <p:cNvPr id="24" name="Conector: angular 23">
            <a:extLst>
              <a:ext uri="{FF2B5EF4-FFF2-40B4-BE49-F238E27FC236}">
                <a16:creationId xmlns:a16="http://schemas.microsoft.com/office/drawing/2014/main" id="{FBAABB8A-7C5E-47AA-A4A6-F9747AC4BCD2}"/>
              </a:ext>
            </a:extLst>
          </p:cNvPr>
          <p:cNvCxnSpPr>
            <a:cxnSpLocks/>
            <a:stCxn id="25" idx="6"/>
            <a:endCxn id="29" idx="2"/>
          </p:cNvCxnSpPr>
          <p:nvPr/>
        </p:nvCxnSpPr>
        <p:spPr>
          <a:xfrm flipV="1">
            <a:off x="3917118" y="2778887"/>
            <a:ext cx="5710660" cy="2640726"/>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9452B4AB-F321-4C1A-8E7F-EEA7E842859F}"/>
              </a:ext>
            </a:extLst>
          </p:cNvPr>
          <p:cNvSpPr/>
          <p:nvPr/>
        </p:nvSpPr>
        <p:spPr>
          <a:xfrm>
            <a:off x="3871399" y="5396753"/>
            <a:ext cx="45719" cy="4571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9" name="Rectángulo 28">
            <a:extLst>
              <a:ext uri="{FF2B5EF4-FFF2-40B4-BE49-F238E27FC236}">
                <a16:creationId xmlns:a16="http://schemas.microsoft.com/office/drawing/2014/main" id="{D047A4BC-77AD-48FB-A686-1D03ED2947B9}"/>
              </a:ext>
            </a:extLst>
          </p:cNvPr>
          <p:cNvSpPr/>
          <p:nvPr/>
        </p:nvSpPr>
        <p:spPr>
          <a:xfrm>
            <a:off x="7137536" y="1578558"/>
            <a:ext cx="4980483" cy="1200329"/>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Mediante esta opción, es posible desactivar temporalmente la carrera seleccionada. Al hacerlo, la carrera pasará al apartado “Inactivos” hasta que sea reactivada.</a:t>
            </a:r>
          </a:p>
        </p:txBody>
      </p:sp>
      <p:sp>
        <p:nvSpPr>
          <p:cNvPr id="32" name="Flecha: a la derecha 31">
            <a:hlinkClick r:id="rId3" action="ppaction://hlinksldjump"/>
            <a:extLst>
              <a:ext uri="{FF2B5EF4-FFF2-40B4-BE49-F238E27FC236}">
                <a16:creationId xmlns:a16="http://schemas.microsoft.com/office/drawing/2014/main" id="{0724CA0B-30CF-4793-9F08-4F6E23C78547}"/>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35" name="Rectángulo 34">
            <a:hlinkClick r:id="rId3" action="ppaction://hlinksldjump"/>
            <a:extLst>
              <a:ext uri="{FF2B5EF4-FFF2-40B4-BE49-F238E27FC236}">
                <a16:creationId xmlns:a16="http://schemas.microsoft.com/office/drawing/2014/main" id="{D5D61F21-DE09-47C9-830E-4E6346928BFD}"/>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2824098163"/>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AC8DD"/>
        </a:solidFill>
        <a:effectLst/>
      </p:bgPr>
    </p:bg>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A8905C1A-5312-4F55-B1E0-50089527613F}"/>
              </a:ext>
            </a:extLst>
          </p:cNvPr>
          <p:cNvPicPr/>
          <p:nvPr/>
        </p:nvPicPr>
        <p:blipFill>
          <a:blip r:embed="rId2"/>
          <a:stretch>
            <a:fillRect/>
          </a:stretch>
        </p:blipFill>
        <p:spPr>
          <a:xfrm>
            <a:off x="124286" y="1535405"/>
            <a:ext cx="6282785" cy="3931858"/>
          </a:xfrm>
          <a:prstGeom prst="rect">
            <a:avLst/>
          </a:prstGeom>
        </p:spPr>
      </p:pic>
      <p:sp>
        <p:nvSpPr>
          <p:cNvPr id="8" name="Rectángulo 7">
            <a:extLst>
              <a:ext uri="{FF2B5EF4-FFF2-40B4-BE49-F238E27FC236}">
                <a16:creationId xmlns:a16="http://schemas.microsoft.com/office/drawing/2014/main" id="{CA3FE45B-75F1-4A2D-A566-32E8093AE630}"/>
              </a:ext>
            </a:extLst>
          </p:cNvPr>
          <p:cNvSpPr/>
          <p:nvPr/>
        </p:nvSpPr>
        <p:spPr>
          <a:xfrm>
            <a:off x="0" y="0"/>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11" name="Rectángulo 10">
            <a:extLst>
              <a:ext uri="{FF2B5EF4-FFF2-40B4-BE49-F238E27FC236}">
                <a16:creationId xmlns:a16="http://schemas.microsoft.com/office/drawing/2014/main" id="{F72A120C-4DB2-45E5-939A-60B97D6A32AF}"/>
              </a:ext>
            </a:extLst>
          </p:cNvPr>
          <p:cNvSpPr/>
          <p:nvPr/>
        </p:nvSpPr>
        <p:spPr>
          <a:xfrm>
            <a:off x="0" y="6225466"/>
            <a:ext cx="12192000" cy="632534"/>
          </a:xfrm>
          <a:prstGeom prst="rect">
            <a:avLst/>
          </a:prstGeom>
          <a:solidFill>
            <a:srgbClr val="2745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ln w="0"/>
              <a:solidFill>
                <a:schemeClr val="tx1"/>
              </a:solidFill>
              <a:effectLst>
                <a:outerShdw blurRad="38100" dist="19050" dir="2700000" algn="tl" rotWithShape="0">
                  <a:schemeClr val="dk1">
                    <a:alpha val="40000"/>
                  </a:schemeClr>
                </a:outerShdw>
              </a:effectLst>
            </a:endParaRPr>
          </a:p>
        </p:txBody>
      </p:sp>
      <p:sp>
        <p:nvSpPr>
          <p:cNvPr id="22" name="Rectángulo 21">
            <a:extLst>
              <a:ext uri="{FF2B5EF4-FFF2-40B4-BE49-F238E27FC236}">
                <a16:creationId xmlns:a16="http://schemas.microsoft.com/office/drawing/2014/main" id="{27D7C8F8-0333-45AA-A4B2-EF5171DA4770}"/>
              </a:ext>
            </a:extLst>
          </p:cNvPr>
          <p:cNvSpPr/>
          <p:nvPr/>
        </p:nvSpPr>
        <p:spPr>
          <a:xfrm>
            <a:off x="2776931" y="722423"/>
            <a:ext cx="6638164" cy="584775"/>
          </a:xfrm>
          <a:prstGeom prst="rect">
            <a:avLst/>
          </a:prstGeom>
          <a:noFill/>
        </p:spPr>
        <p:txBody>
          <a:bodyPr wrap="none" lIns="91440" tIns="45720" rIns="91440" bIns="45720">
            <a:spAutoFit/>
          </a:bodyPr>
          <a:lstStyle/>
          <a:p>
            <a:pPr algn="ctr"/>
            <a:r>
              <a:rPr lang="es-ES" sz="32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rPr>
              <a:t>Módulo Carreras: Ver Correlativas</a:t>
            </a:r>
            <a:endParaRPr lang="es-ES" sz="32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rebuchet MS" panose="020B0603020202020204" pitchFamily="34" charset="0"/>
            </a:endParaRPr>
          </a:p>
        </p:txBody>
      </p:sp>
      <p:sp>
        <p:nvSpPr>
          <p:cNvPr id="29" name="Rectángulo 28">
            <a:extLst>
              <a:ext uri="{FF2B5EF4-FFF2-40B4-BE49-F238E27FC236}">
                <a16:creationId xmlns:a16="http://schemas.microsoft.com/office/drawing/2014/main" id="{D047A4BC-77AD-48FB-A686-1D03ED2947B9}"/>
              </a:ext>
            </a:extLst>
          </p:cNvPr>
          <p:cNvSpPr/>
          <p:nvPr/>
        </p:nvSpPr>
        <p:spPr>
          <a:xfrm>
            <a:off x="6924853" y="1782744"/>
            <a:ext cx="4980483" cy="923330"/>
          </a:xfrm>
          <a:prstGeom prst="rect">
            <a:avLst/>
          </a:prstGeom>
          <a:noFill/>
        </p:spPr>
        <p:txBody>
          <a:bodyPr wrap="square" lIns="91440" tIns="45720" rIns="91440" bIns="45720">
            <a:spAutoFit/>
          </a:bodyPr>
          <a:lstStyle/>
          <a:p>
            <a:r>
              <a:rPr lang="es-MX" dirty="0">
                <a:latin typeface="Tahoma" panose="020B0604030504040204" pitchFamily="34" charset="0"/>
                <a:ea typeface="Tahoma" panose="020B0604030504040204" pitchFamily="34" charset="0"/>
                <a:cs typeface="Tahoma" panose="020B0604030504040204" pitchFamily="34" charset="0"/>
              </a:rPr>
              <a:t>En esta pestaña se podrán visualizar, a la derecha, las materias necesarias para cursar las materias ubicadas a la izquierda.</a:t>
            </a:r>
          </a:p>
        </p:txBody>
      </p:sp>
      <p:sp>
        <p:nvSpPr>
          <p:cNvPr id="32" name="Flecha: a la derecha 31">
            <a:hlinkClick r:id="rId3" action="ppaction://hlinksldjump"/>
            <a:extLst>
              <a:ext uri="{FF2B5EF4-FFF2-40B4-BE49-F238E27FC236}">
                <a16:creationId xmlns:a16="http://schemas.microsoft.com/office/drawing/2014/main" id="{0724CA0B-30CF-4793-9F08-4F6E23C78547}"/>
              </a:ext>
            </a:extLst>
          </p:cNvPr>
          <p:cNvSpPr/>
          <p:nvPr/>
        </p:nvSpPr>
        <p:spPr>
          <a:xfrm rot="10800000">
            <a:off x="124286" y="6266894"/>
            <a:ext cx="1287263" cy="54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35" name="Rectángulo 34">
            <a:hlinkClick r:id="rId3" action="ppaction://hlinksldjump"/>
            <a:extLst>
              <a:ext uri="{FF2B5EF4-FFF2-40B4-BE49-F238E27FC236}">
                <a16:creationId xmlns:a16="http://schemas.microsoft.com/office/drawing/2014/main" id="{D5D61F21-DE09-47C9-830E-4E6346928BFD}"/>
              </a:ext>
            </a:extLst>
          </p:cNvPr>
          <p:cNvSpPr/>
          <p:nvPr/>
        </p:nvSpPr>
        <p:spPr>
          <a:xfrm>
            <a:off x="124286" y="6410926"/>
            <a:ext cx="1359166" cy="261610"/>
          </a:xfrm>
          <a:prstGeom prst="rect">
            <a:avLst/>
          </a:prstGeom>
          <a:noFill/>
        </p:spPr>
        <p:txBody>
          <a:bodyPr wrap="square" lIns="91440" tIns="45720" rIns="91440" bIns="45720">
            <a:spAutoFit/>
          </a:bodyPr>
          <a:lstStyle/>
          <a:p>
            <a:pPr algn="ctr"/>
            <a:r>
              <a:rPr lang="es-ES" sz="1100" b="1" dirty="0">
                <a:ln w="0"/>
                <a:effectLst>
                  <a:outerShdw blurRad="38100" dist="25400" dir="5400000" algn="ctr" rotWithShape="0">
                    <a:srgbClr val="6E747A">
                      <a:alpha val="43000"/>
                    </a:srgbClr>
                  </a:outerShdw>
                </a:effectLst>
                <a:latin typeface="Tahoma" panose="020B0604030504040204" pitchFamily="34" charset="0"/>
                <a:ea typeface="Tahoma" panose="020B0604030504040204" pitchFamily="34" charset="0"/>
                <a:cs typeface="Tahoma" panose="020B0604030504040204" pitchFamily="34" charset="0"/>
              </a:rPr>
              <a:t>Volver al índice</a:t>
            </a:r>
          </a:p>
        </p:txBody>
      </p:sp>
    </p:spTree>
    <p:extLst>
      <p:ext uri="{BB962C8B-B14F-4D97-AF65-F5344CB8AC3E}">
        <p14:creationId xmlns:p14="http://schemas.microsoft.com/office/powerpoint/2010/main" val="2802769151"/>
      </p:ext>
    </p:extLst>
  </p:cSld>
  <p:clrMapOvr>
    <a:masterClrMapping/>
  </p:clrMapOvr>
  <p:transition spd="slow">
    <p:cover/>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760</TotalTime>
  <Words>1153</Words>
  <Application>Microsoft Office PowerPoint</Application>
  <PresentationFormat>Panorámica</PresentationFormat>
  <Paragraphs>90</Paragraphs>
  <Slides>18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Arial</vt:lpstr>
      <vt:lpstr>Calibri</vt:lpstr>
      <vt:lpstr>Calibri Light</vt:lpstr>
      <vt:lpstr>Tahoma</vt:lpstr>
      <vt:lpstr>Trebuchet MS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lautaro mansilla</dc:creator>
  <cp:lastModifiedBy>lautaro mansilla</cp:lastModifiedBy>
  <cp:revision>55</cp:revision>
  <dcterms:created xsi:type="dcterms:W3CDTF">2026-04-09T18:38:08Z</dcterms:created>
  <dcterms:modified xsi:type="dcterms:W3CDTF">2026-04-17T18:18:58Z</dcterms:modified>
</cp:coreProperties>
</file>